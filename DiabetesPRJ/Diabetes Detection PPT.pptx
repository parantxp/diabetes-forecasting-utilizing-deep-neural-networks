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35" r:id="rId3"/>
    <p:sldId id="291" r:id="rId4"/>
    <p:sldId id="349" r:id="rId5"/>
    <p:sldId id="348" r:id="rId6"/>
    <p:sldId id="362" r:id="rId7"/>
    <p:sldId id="361" r:id="rId8"/>
    <p:sldId id="375" r:id="rId9"/>
    <p:sldId id="376" r:id="rId10"/>
    <p:sldId id="371" r:id="rId11"/>
    <p:sldId id="372" r:id="rId12"/>
    <p:sldId id="373" r:id="rId13"/>
    <p:sldId id="374" r:id="rId14"/>
    <p:sldId id="377" r:id="rId15"/>
    <p:sldId id="378" r:id="rId16"/>
    <p:sldId id="346" r:id="rId17"/>
    <p:sldId id="370" r:id="rId18"/>
    <p:sldId id="365" r:id="rId19"/>
    <p:sldId id="352" r:id="rId20"/>
    <p:sldId id="368" r:id="rId21"/>
    <p:sldId id="359" r:id="rId22"/>
    <p:sldId id="36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26CA9C2-0664-4FF6-94C5-3F332C0CCE8C}">
          <p14:sldIdLst>
            <p14:sldId id="256"/>
            <p14:sldId id="335"/>
            <p14:sldId id="291"/>
            <p14:sldId id="349"/>
            <p14:sldId id="348"/>
            <p14:sldId id="362"/>
            <p14:sldId id="361"/>
            <p14:sldId id="375"/>
            <p14:sldId id="376"/>
            <p14:sldId id="371"/>
            <p14:sldId id="372"/>
            <p14:sldId id="373"/>
            <p14:sldId id="374"/>
            <p14:sldId id="377"/>
            <p14:sldId id="378"/>
            <p14:sldId id="346"/>
            <p14:sldId id="370"/>
            <p14:sldId id="365"/>
            <p14:sldId id="352"/>
            <p14:sldId id="368"/>
            <p14:sldId id="359"/>
            <p14:sldId id="3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60"/>
  </p:normalViewPr>
  <p:slideViewPr>
    <p:cSldViewPr>
      <p:cViewPr>
        <p:scale>
          <a:sx n="66" d="100"/>
          <a:sy n="66" d="100"/>
        </p:scale>
        <p:origin x="1954" y="41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3A2E3C-9E44-4FAA-9F0F-CC5278E3F561}" type="datetimeFigureOut">
              <a:rPr lang="en-US" smtClean="0"/>
              <a:pPr/>
              <a:t>12/4/2024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1F54DD-4DF8-4B55-B20C-355367971649}" type="slidenum">
              <a:rPr lang="en-US" smtClean="0"/>
              <a:pPr/>
              <a:t>‹#›</a:t>
            </a:fld>
            <a:endParaRPr lang="en-US"/>
          </a:p>
        </p:txBody>
      </p:sp>
    </p:spTree>
    <p:extLst>
      <p:ext uri="{BB962C8B-B14F-4D97-AF65-F5344CB8AC3E}">
        <p14:creationId xmlns:p14="http://schemas.microsoft.com/office/powerpoint/2010/main" val="71652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61F54DD-4DF8-4B55-B20C-355367971649}" type="slidenum">
              <a:rPr lang="en-US" smtClean="0"/>
              <a:pPr/>
              <a:t>1</a:t>
            </a:fld>
            <a:endParaRPr lang="en-US"/>
          </a:p>
        </p:txBody>
      </p:sp>
    </p:spTree>
    <p:extLst>
      <p:ext uri="{BB962C8B-B14F-4D97-AF65-F5344CB8AC3E}">
        <p14:creationId xmlns:p14="http://schemas.microsoft.com/office/powerpoint/2010/main" val="1720152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F2DF08-6415-4C39-8F3F-8BCDA98716F9}" type="datetime1">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13D1CC-B735-41EB-B4EE-C09DE6D6F1D4}" type="datetime1">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5EAD35-99E8-4164-A3F0-F656BDC88F27}" type="datetime1">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9A5487-4BB6-4628-914E-F3BD7AD96A42}" type="datetime1">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A4D3FF-4CC7-4749-AEA3-F194D1D8ED77}" type="datetime1">
              <a:rPr lang="en-US" smtClean="0"/>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7031F6-5A0F-498D-88DF-3823B16F6475}" type="datetime1">
              <a:rPr lang="en-US" smtClean="0"/>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3E2792-6290-4D48-96F6-105AE2F5CEB2}" type="datetime1">
              <a:rPr lang="en-US" smtClean="0"/>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DE94D4-7099-4A1C-BCBE-8DD16E545C1D}" type="datetime1">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562A2-7FAE-44FE-AD53-2B93A4348D4D}" type="datetime1">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2F8C58-0A0F-4DA5-AF6C-3AD3D94BD530}" type="datetime1">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D58ADA-AA16-4312-990A-C41E87EB3765}" type="datetime1">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0EEA2-F79F-4665-B964-141DA238CC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C29ACF-B0DF-4669-9DD9-DF1C4CBC687C}" type="datetime1">
              <a:rPr lang="en-US" smtClean="0"/>
              <a:t>12/4/2024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80EEA2-F79F-4665-B964-141DA238CC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109/becithcon54710.2021.9893653"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1447800"/>
            <a:ext cx="8763000" cy="1905000"/>
          </a:xfrm>
        </p:spPr>
        <p:txBody>
          <a:bodyPr>
            <a:noAutofit/>
          </a:bodyPr>
          <a:lstStyle/>
          <a:p>
            <a:r>
              <a:rPr lang="en-US" sz="2400" b="1" dirty="0">
                <a:latin typeface="Times New Roman" pitchFamily="18" charset="0"/>
                <a:cs typeface="Times New Roman" pitchFamily="18" charset="0"/>
              </a:rPr>
              <a:t>Diabetes Detection using Deep Learning</a:t>
            </a:r>
          </a:p>
        </p:txBody>
      </p:sp>
      <p:sp>
        <p:nvSpPr>
          <p:cNvPr id="6" name="TextBox 5"/>
          <p:cNvSpPr txBox="1"/>
          <p:nvPr/>
        </p:nvSpPr>
        <p:spPr>
          <a:xfrm>
            <a:off x="1752599" y="3352800"/>
            <a:ext cx="5638800" cy="1200329"/>
          </a:xfrm>
          <a:prstGeom prst="rect">
            <a:avLst/>
          </a:prstGeom>
          <a:noFill/>
        </p:spPr>
        <p:txBody>
          <a:bodyPr wrap="square" rtlCol="0" anchor="ctr">
            <a:spAutoFit/>
          </a:bodyPr>
          <a:lstStyle/>
          <a:p>
            <a:pPr algn="ctr"/>
            <a:r>
              <a:rPr lang="en-US" b="1" dirty="0">
                <a:latin typeface="Times New Roman" pitchFamily="18" charset="0"/>
                <a:cs typeface="Times New Roman" pitchFamily="18" charset="0"/>
              </a:rPr>
              <a:t>Presented by :</a:t>
            </a:r>
          </a:p>
          <a:p>
            <a:pPr algn="ctr"/>
            <a:r>
              <a:rPr lang="en-US" b="1" dirty="0" err="1">
                <a:latin typeface="Times New Roman" pitchFamily="18" charset="0"/>
                <a:cs typeface="Times New Roman" pitchFamily="18" charset="0"/>
              </a:rPr>
              <a:t>Namreen</a:t>
            </a:r>
            <a:r>
              <a:rPr lang="en-US" b="1" dirty="0">
                <a:latin typeface="Times New Roman" pitchFamily="18" charset="0"/>
                <a:cs typeface="Times New Roman" pitchFamily="18" charset="0"/>
              </a:rPr>
              <a:t> Habib (2100971640034)</a:t>
            </a:r>
          </a:p>
          <a:p>
            <a:pPr algn="ctr"/>
            <a:r>
              <a:rPr lang="en-US" b="1" dirty="0">
                <a:latin typeface="Times New Roman" pitchFamily="18" charset="0"/>
                <a:cs typeface="Times New Roman" pitchFamily="18" charset="0"/>
              </a:rPr>
              <a:t>Parantap Pandey (2100971640036)</a:t>
            </a:r>
          </a:p>
          <a:p>
            <a:pPr algn="ctr"/>
            <a:r>
              <a:rPr lang="en-US" b="1" dirty="0">
                <a:latin typeface="Times New Roman" pitchFamily="18" charset="0"/>
                <a:cs typeface="Times New Roman" pitchFamily="18" charset="0"/>
              </a:rPr>
              <a:t>Sarthak Bhandari (2100971640044)</a:t>
            </a:r>
          </a:p>
        </p:txBody>
      </p:sp>
      <p:pic>
        <p:nvPicPr>
          <p:cNvPr id="13" name="Picture 12"/>
          <p:cNvPicPr/>
          <p:nvPr/>
        </p:nvPicPr>
        <p:blipFill>
          <a:blip r:embed="rId3"/>
          <a:srcRect l="36378" t="27920" r="35096" b="60969"/>
          <a:stretch>
            <a:fillRect/>
          </a:stretch>
        </p:blipFill>
        <p:spPr bwMode="auto">
          <a:xfrm>
            <a:off x="2372226" y="321697"/>
            <a:ext cx="4399546" cy="1133475"/>
          </a:xfrm>
          <a:prstGeom prst="rect">
            <a:avLst/>
          </a:prstGeom>
          <a:noFill/>
          <a:ln w="9525">
            <a:noFill/>
            <a:miter lim="800000"/>
            <a:headEnd/>
            <a:tailEnd/>
          </a:ln>
        </p:spPr>
      </p:pic>
      <p:cxnSp>
        <p:nvCxnSpPr>
          <p:cNvPr id="16" name="Straight Connector 15"/>
          <p:cNvCxnSpPr/>
          <p:nvPr/>
        </p:nvCxnSpPr>
        <p:spPr>
          <a:xfrm>
            <a:off x="0" y="1676400"/>
            <a:ext cx="9144000" cy="1588"/>
          </a:xfrm>
          <a:prstGeom prst="line">
            <a:avLst/>
          </a:prstGeom>
        </p:spPr>
        <p:style>
          <a:lnRef idx="3">
            <a:schemeClr val="accent2"/>
          </a:lnRef>
          <a:fillRef idx="0">
            <a:schemeClr val="accent2"/>
          </a:fillRef>
          <a:effectRef idx="2">
            <a:schemeClr val="accent2"/>
          </a:effectRef>
          <a:fontRef idx="minor">
            <a:schemeClr val="tx1"/>
          </a:fontRef>
        </p:style>
      </p:cxnSp>
      <p:sp>
        <p:nvSpPr>
          <p:cNvPr id="18" name="Right Triangle 17"/>
          <p:cNvSpPr/>
          <p:nvPr/>
        </p:nvSpPr>
        <p:spPr>
          <a:xfrm>
            <a:off x="0" y="3505200"/>
            <a:ext cx="3581400" cy="3352800"/>
          </a:xfrm>
          <a:prstGeom prst="rtTriangl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9" name="Right Triangle 18"/>
          <p:cNvSpPr/>
          <p:nvPr/>
        </p:nvSpPr>
        <p:spPr>
          <a:xfrm flipH="1">
            <a:off x="5638800" y="3505200"/>
            <a:ext cx="3505200" cy="3352800"/>
          </a:xfrm>
          <a:prstGeom prst="rtTriangl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r>
              <a:rPr lang="en-US" dirty="0"/>
              <a:t>5/12/2024</a:t>
            </a:r>
          </a:p>
        </p:txBody>
      </p:sp>
      <p:sp>
        <p:nvSpPr>
          <p:cNvPr id="3" name="Slide Number Placeholder 2"/>
          <p:cNvSpPr>
            <a:spLocks noGrp="1"/>
          </p:cNvSpPr>
          <p:nvPr>
            <p:ph type="sldNum" sz="quarter" idx="12"/>
          </p:nvPr>
        </p:nvSpPr>
        <p:spPr/>
        <p:txBody>
          <a:bodyPr/>
          <a:lstStyle/>
          <a:p>
            <a:fld id="{3380EEA2-F79F-4665-B964-141DA238CC58}" type="slidenum">
              <a:rPr lang="en-US" smtClean="0"/>
              <a:pPr/>
              <a:t>1</a:t>
            </a:fld>
            <a:endParaRPr lang="en-US"/>
          </a:p>
        </p:txBody>
      </p:sp>
      <p:sp>
        <p:nvSpPr>
          <p:cNvPr id="7" name="TextBox 6">
            <a:extLst>
              <a:ext uri="{FF2B5EF4-FFF2-40B4-BE49-F238E27FC236}">
                <a16:creationId xmlns:a16="http://schemas.microsoft.com/office/drawing/2014/main" id="{9B767C88-3A8A-F662-7AA1-1BA87C710F9B}"/>
              </a:ext>
            </a:extLst>
          </p:cNvPr>
          <p:cNvSpPr txBox="1"/>
          <p:nvPr/>
        </p:nvSpPr>
        <p:spPr>
          <a:xfrm>
            <a:off x="1716641" y="5303176"/>
            <a:ext cx="5786918" cy="369332"/>
          </a:xfrm>
          <a:prstGeom prst="rect">
            <a:avLst/>
          </a:prstGeom>
          <a:noFill/>
        </p:spPr>
        <p:txBody>
          <a:bodyPr wrap="square">
            <a:spAutoFit/>
          </a:bodyPr>
          <a:lstStyle/>
          <a:p>
            <a:pPr algn="ctr"/>
            <a:r>
              <a:rPr lang="en-US" b="1" dirty="0">
                <a:latin typeface="Times New Roman" pitchFamily="18" charset="0"/>
                <a:cs typeface="Times New Roman" pitchFamily="18" charset="0"/>
              </a:rPr>
              <a:t>Guided</a:t>
            </a:r>
            <a:r>
              <a:rPr lang="en-US" sz="1800" b="1" dirty="0">
                <a:latin typeface="Times New Roman" pitchFamily="18" charset="0"/>
                <a:cs typeface="Times New Roman" pitchFamily="18" charset="0"/>
              </a:rPr>
              <a:t> by: Mr</a:t>
            </a:r>
            <a:r>
              <a:rPr lang="en-US" b="1" dirty="0">
                <a:latin typeface="Times New Roman" pitchFamily="18" charset="0"/>
                <a:cs typeface="Times New Roman" pitchFamily="18" charset="0"/>
              </a:rPr>
              <a:t>. Sunny Arora</a:t>
            </a:r>
            <a:endParaRPr lang="en-US" sz="1800"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001000" cy="838200"/>
          </a:xfrm>
        </p:spPr>
        <p:txBody>
          <a:bodyPr>
            <a:noAutofit/>
          </a:bodyPr>
          <a:lstStyle/>
          <a:p>
            <a:pPr algn="just"/>
            <a:r>
              <a:rPr lang="en-GB" sz="4000" b="1" dirty="0">
                <a:latin typeface="Times New Roman" pitchFamily="18" charset="0"/>
                <a:cs typeface="Times New Roman" pitchFamily="18" charset="0"/>
              </a:rPr>
              <a:t>Outline</a:t>
            </a:r>
          </a:p>
        </p:txBody>
      </p:sp>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571500" y="1828800"/>
            <a:ext cx="8001000" cy="4462760"/>
          </a:xfrm>
          <a:prstGeom prst="rect">
            <a:avLst/>
          </a:prstGeom>
          <a:noFill/>
        </p:spPr>
        <p:txBody>
          <a:bodyPr wrap="square" rtlCol="0">
            <a:spAutoFit/>
          </a:bodyPr>
          <a:lstStyle/>
          <a:p>
            <a:pPr marL="168275" lvl="0" indent="-168275" algn="just">
              <a:spcBef>
                <a:spcPct val="20000"/>
              </a:spcBef>
              <a:buFont typeface="Arial" pitchFamily="34" charset="0"/>
              <a:buChar char="•"/>
              <a:defRPr/>
            </a:pPr>
            <a:r>
              <a:rPr lang="en-US" sz="2000" b="1" dirty="0"/>
              <a:t>Introduction</a:t>
            </a:r>
          </a:p>
          <a:p>
            <a:pPr marL="168275" indent="-168275" algn="just">
              <a:spcBef>
                <a:spcPct val="20000"/>
              </a:spcBef>
              <a:buFont typeface="Arial" pitchFamily="34" charset="0"/>
              <a:buChar char="•"/>
              <a:defRPr/>
            </a:pPr>
            <a:r>
              <a:rPr lang="en-US" sz="2000" b="1" dirty="0"/>
              <a:t>Problem Statement</a:t>
            </a:r>
          </a:p>
          <a:p>
            <a:pPr marL="168275" indent="-168275" algn="just">
              <a:spcBef>
                <a:spcPct val="20000"/>
              </a:spcBef>
              <a:buFont typeface="Arial" pitchFamily="34" charset="0"/>
              <a:buChar char="•"/>
              <a:defRPr/>
            </a:pPr>
            <a:r>
              <a:rPr lang="en-US" sz="2000" b="1" dirty="0"/>
              <a:t>Objectives</a:t>
            </a:r>
          </a:p>
          <a:p>
            <a:pPr marL="168275" lvl="0" indent="-168275" algn="just">
              <a:spcBef>
                <a:spcPct val="20000"/>
              </a:spcBef>
              <a:buFont typeface="Arial" pitchFamily="34" charset="0"/>
              <a:buChar char="•"/>
              <a:defRPr/>
            </a:pPr>
            <a:r>
              <a:rPr lang="en-US" sz="2000" b="1" dirty="0"/>
              <a:t>Literature Survey</a:t>
            </a:r>
          </a:p>
          <a:p>
            <a:pPr marL="168275" lvl="0" indent="-168275" algn="just">
              <a:spcBef>
                <a:spcPct val="20000"/>
              </a:spcBef>
              <a:buFont typeface="Arial" pitchFamily="34" charset="0"/>
              <a:buChar char="•"/>
              <a:defRPr/>
            </a:pPr>
            <a:r>
              <a:rPr lang="en-US" sz="2000" b="1" dirty="0"/>
              <a:t>Dataset Details</a:t>
            </a:r>
          </a:p>
          <a:p>
            <a:pPr marL="168275" lvl="0" indent="-168275" algn="just">
              <a:spcBef>
                <a:spcPct val="20000"/>
              </a:spcBef>
              <a:buFont typeface="Arial" pitchFamily="34" charset="0"/>
              <a:buChar char="•"/>
              <a:defRPr/>
            </a:pPr>
            <a:r>
              <a:rPr lang="en-US" sz="2000" b="1" dirty="0"/>
              <a:t>Data Preprocessing</a:t>
            </a:r>
          </a:p>
          <a:p>
            <a:pPr marL="168275" lvl="0" indent="-168275" algn="just">
              <a:spcBef>
                <a:spcPct val="20000"/>
              </a:spcBef>
              <a:buFont typeface="Arial" pitchFamily="34" charset="0"/>
              <a:buChar char="•"/>
              <a:defRPr/>
            </a:pPr>
            <a:r>
              <a:rPr lang="en-US" sz="2000" b="1" dirty="0"/>
              <a:t>Methodology</a:t>
            </a:r>
          </a:p>
          <a:p>
            <a:pPr marL="168275" lvl="0" indent="-168275" algn="just">
              <a:spcBef>
                <a:spcPct val="20000"/>
              </a:spcBef>
              <a:buFont typeface="Arial" pitchFamily="34" charset="0"/>
              <a:buChar char="•"/>
              <a:defRPr/>
            </a:pPr>
            <a:r>
              <a:rPr lang="en-US" sz="2000" b="1" dirty="0"/>
              <a:t>Model Comparison</a:t>
            </a:r>
          </a:p>
          <a:p>
            <a:pPr marL="168275" lvl="0" indent="-168275" algn="just">
              <a:spcBef>
                <a:spcPct val="20000"/>
              </a:spcBef>
              <a:buFont typeface="Arial" pitchFamily="34" charset="0"/>
              <a:buChar char="•"/>
              <a:defRPr/>
            </a:pPr>
            <a:r>
              <a:rPr lang="en-US" sz="2000" b="1" dirty="0"/>
              <a:t>Proposed Work</a:t>
            </a:r>
          </a:p>
          <a:p>
            <a:pPr marL="168275" lvl="0" indent="-168275" algn="just">
              <a:spcBef>
                <a:spcPct val="20000"/>
              </a:spcBef>
              <a:buFont typeface="Arial" pitchFamily="34" charset="0"/>
              <a:buChar char="•"/>
              <a:defRPr/>
            </a:pPr>
            <a:r>
              <a:rPr lang="en-US" sz="2000" b="1" dirty="0"/>
              <a:t>XAI Integration</a:t>
            </a:r>
          </a:p>
          <a:p>
            <a:pPr marL="168275" lvl="0" indent="-168275" algn="just">
              <a:spcBef>
                <a:spcPct val="20000"/>
              </a:spcBef>
              <a:buFont typeface="Arial" pitchFamily="34" charset="0"/>
              <a:buChar char="•"/>
              <a:defRPr/>
            </a:pPr>
            <a:r>
              <a:rPr lang="en-US" sz="2000" b="1" dirty="0"/>
              <a:t>Conclusion</a:t>
            </a:r>
          </a:p>
          <a:p>
            <a:pPr marL="168275" lvl="0" indent="-168275" algn="just">
              <a:spcBef>
                <a:spcPct val="20000"/>
              </a:spcBef>
              <a:buFont typeface="Arial" pitchFamily="34" charset="0"/>
              <a:buChar char="•"/>
              <a:defRPr/>
            </a:pPr>
            <a:r>
              <a:rPr lang="en-US" sz="2000" b="1" dirty="0"/>
              <a:t>Future Scope</a:t>
            </a:r>
          </a:p>
        </p:txBody>
      </p:sp>
      <p:sp>
        <p:nvSpPr>
          <p:cNvPr id="8" name="Slide Number Placeholder 7"/>
          <p:cNvSpPr>
            <a:spLocks noGrp="1"/>
          </p:cNvSpPr>
          <p:nvPr>
            <p:ph type="sldNum" sz="quarter" idx="12"/>
          </p:nvPr>
        </p:nvSpPr>
        <p:spPr/>
        <p:txBody>
          <a:bodyPr/>
          <a:lstStyle/>
          <a:p>
            <a:fld id="{3380EEA2-F79F-4665-B964-141DA238CC58}" type="slidenum">
              <a:rPr lang="en-US" smtClean="0"/>
              <a:pPr/>
              <a:t>2</a:t>
            </a:fld>
            <a:endParaRPr lang="en-US"/>
          </a:p>
        </p:txBody>
      </p:sp>
    </p:spTree>
    <p:extLst>
      <p:ext uri="{BB962C8B-B14F-4D97-AF65-F5344CB8AC3E}">
        <p14:creationId xmlns:p14="http://schemas.microsoft.com/office/powerpoint/2010/main" val="696627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Title 11">
            <a:extLst>
              <a:ext uri="{FF2B5EF4-FFF2-40B4-BE49-F238E27FC236}">
                <a16:creationId xmlns:a16="http://schemas.microsoft.com/office/drawing/2014/main" id="{58C03C7C-E127-97B3-1EC5-C0806533AFFF}"/>
              </a:ext>
            </a:extLst>
          </p:cNvPr>
          <p:cNvSpPr>
            <a:spLocks noGrp="1"/>
          </p:cNvSpPr>
          <p:nvPr>
            <p:ph type="title"/>
          </p:nvPr>
        </p:nvSpPr>
        <p:spPr>
          <a:xfrm>
            <a:off x="457200" y="800100"/>
            <a:ext cx="8229600" cy="1143000"/>
          </a:xfrm>
        </p:spPr>
        <p:txBody>
          <a:bodyPr>
            <a:normAutofit/>
          </a:bodyPr>
          <a:lstStyle/>
          <a:p>
            <a:pPr algn="l"/>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0EEA2-F79F-4665-B964-141DA238CC58}" type="slidenum">
              <a:rPr lang="en-US" smtClean="0"/>
              <a:pPr/>
              <a:t>3</a:t>
            </a:fld>
            <a:endParaRPr lang="en-US"/>
          </a:p>
        </p:txBody>
      </p:sp>
      <p:sp>
        <p:nvSpPr>
          <p:cNvPr id="9" name="Rectangle 3">
            <a:extLst>
              <a:ext uri="{FF2B5EF4-FFF2-40B4-BE49-F238E27FC236}">
                <a16:creationId xmlns:a16="http://schemas.microsoft.com/office/drawing/2014/main" id="{DDF993AE-875E-A603-B1E9-9A97874B1A40}"/>
              </a:ext>
            </a:extLst>
          </p:cNvPr>
          <p:cNvSpPr>
            <a:spLocks noGrp="1" noChangeArrowheads="1"/>
          </p:cNvSpPr>
          <p:nvPr>
            <p:ph idx="1"/>
          </p:nvPr>
        </p:nvSpPr>
        <p:spPr bwMode="auto">
          <a:xfrm>
            <a:off x="599897" y="1647631"/>
            <a:ext cx="7944205"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Overview of the Problem</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Diabetes is a chronic condition affecting millions globally. Early detection is key to managing its progression and improving patient outcomes. AI models can assist in predicting diabetes risk, offering an efficient solution for timely intervention.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Early Diagnosis and Interpretability</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diagnosis allows for preventive measures and treatment, reducing complications. In healthcare AI, model interpretability is crucial for gaining the trust of healthcare professionals. Transparent predictions help medical practitioners understand the factors influencing results, ensuring better decision-making.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Current Approaches in Diabetes Detection</a:t>
            </a:r>
          </a:p>
          <a:p>
            <a:pPr marL="0" indent="0">
              <a:buNone/>
            </a:pPr>
            <a:r>
              <a:rPr lang="en-US" sz="1500" dirty="0">
                <a:latin typeface="Times New Roman" panose="02020603050405020304" pitchFamily="18" charset="0"/>
                <a:cs typeface="Times New Roman" panose="02020603050405020304" pitchFamily="18" charset="0"/>
              </a:rPr>
              <a:t>Traditional methods like </a:t>
            </a:r>
            <a:r>
              <a:rPr lang="en-US" sz="1500" b="1" dirty="0">
                <a:latin typeface="Times New Roman" panose="02020603050405020304" pitchFamily="18" charset="0"/>
                <a:cs typeface="Times New Roman" panose="02020603050405020304" pitchFamily="18" charset="0"/>
              </a:rPr>
              <a:t>Fasting Blood Sugar (FBS)</a:t>
            </a:r>
            <a:r>
              <a:rPr lang="en-US" sz="1500" dirty="0">
                <a:latin typeface="Times New Roman" panose="02020603050405020304" pitchFamily="18" charset="0"/>
                <a:cs typeface="Times New Roman" panose="02020603050405020304" pitchFamily="18" charset="0"/>
              </a:rPr>
              <a:t> and </a:t>
            </a:r>
            <a:r>
              <a:rPr lang="en-US" sz="1500" b="1" dirty="0">
                <a:latin typeface="Times New Roman" panose="02020603050405020304" pitchFamily="18" charset="0"/>
                <a:cs typeface="Times New Roman" panose="02020603050405020304" pitchFamily="18" charset="0"/>
              </a:rPr>
              <a:t>OGTT</a:t>
            </a:r>
            <a:r>
              <a:rPr lang="en-US" sz="1500" dirty="0">
                <a:latin typeface="Times New Roman" panose="02020603050405020304" pitchFamily="18" charset="0"/>
                <a:cs typeface="Times New Roman" panose="02020603050405020304" pitchFamily="18" charset="0"/>
              </a:rPr>
              <a:t> detect diabetes later, while AI models can identify early signs by analyzing health data. Machine learning algorithms, especially </a:t>
            </a:r>
            <a:r>
              <a:rPr lang="en-US" sz="1500" b="1" dirty="0">
                <a:latin typeface="Times New Roman" panose="02020603050405020304" pitchFamily="18" charset="0"/>
                <a:cs typeface="Times New Roman" panose="02020603050405020304" pitchFamily="18" charset="0"/>
              </a:rPr>
              <a:t>neural networks</a:t>
            </a:r>
            <a:r>
              <a:rPr lang="en-US" sz="1500" dirty="0">
                <a:latin typeface="Times New Roman" panose="02020603050405020304" pitchFamily="18" charset="0"/>
                <a:cs typeface="Times New Roman" panose="02020603050405020304" pitchFamily="18" charset="0"/>
              </a:rPr>
              <a:t>, offer better accuracy in predicting diabetes risk.</a:t>
            </a: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Benefits of AI in Healthcare</a:t>
            </a:r>
          </a:p>
          <a:p>
            <a:pPr marL="0" indent="0">
              <a:buNone/>
            </a:pPr>
            <a:r>
              <a:rPr lang="en-US" sz="1500" dirty="0">
                <a:latin typeface="Times New Roman" panose="02020603050405020304" pitchFamily="18" charset="0"/>
                <a:cs typeface="Times New Roman" panose="02020603050405020304" pitchFamily="18" charset="0"/>
              </a:rPr>
              <a:t>AI speeds up diagnosis, enabling faster diabetes detection. It also provides </a:t>
            </a:r>
            <a:r>
              <a:rPr lang="en-US" sz="1500" b="1" dirty="0">
                <a:latin typeface="Times New Roman" panose="02020603050405020304" pitchFamily="18" charset="0"/>
                <a:cs typeface="Times New Roman" panose="02020603050405020304" pitchFamily="18" charset="0"/>
              </a:rPr>
              <a:t>personalized healthcare</a:t>
            </a:r>
            <a:r>
              <a:rPr lang="en-US" sz="1500" dirty="0">
                <a:latin typeface="Times New Roman" panose="02020603050405020304" pitchFamily="18" charset="0"/>
                <a:cs typeface="Times New Roman" panose="02020603050405020304" pitchFamily="18" charset="0"/>
              </a:rPr>
              <a:t> by identifying individual risks and suggesting tailored treatments. AI’s </a:t>
            </a:r>
            <a:r>
              <a:rPr lang="en-US" sz="1500" b="1" dirty="0">
                <a:latin typeface="Times New Roman" panose="02020603050405020304" pitchFamily="18" charset="0"/>
                <a:cs typeface="Times New Roman" panose="02020603050405020304" pitchFamily="18" charset="0"/>
              </a:rPr>
              <a:t>scalability</a:t>
            </a:r>
            <a:r>
              <a:rPr lang="en-US" sz="1500" dirty="0">
                <a:latin typeface="Times New Roman" panose="02020603050405020304" pitchFamily="18" charset="0"/>
                <a:cs typeface="Times New Roman" panose="02020603050405020304" pitchFamily="18" charset="0"/>
              </a:rPr>
              <a:t> makes it efficient in large healthcare systems, improving patient outcomes.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E08EF58E-EB90-5A02-C7D5-5A5BA4152AB0}"/>
              </a:ext>
            </a:extLst>
          </p:cNvPr>
          <p:cNvSpPr>
            <a:spLocks noGrp="1"/>
          </p:cNvSpPr>
          <p:nvPr>
            <p:ph type="title"/>
          </p:nvPr>
        </p:nvSpPr>
        <p:spPr>
          <a:xfrm>
            <a:off x="457200" y="2400300"/>
            <a:ext cx="8229600" cy="1143000"/>
          </a:xfrm>
        </p:spPr>
        <p:txBody>
          <a:bodyPr>
            <a:noAutofit/>
          </a:bodyPr>
          <a:lstStyle/>
          <a:p>
            <a:pPr algn="l"/>
            <a:r>
              <a:rPr lang="en-US" sz="1500" dirty="0">
                <a:latin typeface="Times New Roman" panose="02020603050405020304" pitchFamily="18" charset="0"/>
                <a:cs typeface="Times New Roman" panose="02020603050405020304" pitchFamily="18" charset="0"/>
              </a:rPr>
              <a:t>Diabetes is a rapidly growing health issue worldwide, leading to serious complications if not detected early. Traditional diagnostic methods, while effective, are often slow and resource-heavy, which can delay timely intervention.</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This project aims to improve diabetes detection by applying deep learning techniques, which can provide faster and more accurate predictions. Using the </a:t>
            </a:r>
            <a:r>
              <a:rPr lang="en-US" sz="1500" b="1" dirty="0">
                <a:latin typeface="Times New Roman" panose="02020603050405020304" pitchFamily="18" charset="0"/>
                <a:cs typeface="Times New Roman" panose="02020603050405020304" pitchFamily="18" charset="0"/>
              </a:rPr>
              <a:t>Framingham dataset</a:t>
            </a:r>
            <a:r>
              <a:rPr lang="en-US" sz="1500" dirty="0">
                <a:latin typeface="Times New Roman" panose="02020603050405020304" pitchFamily="18" charset="0"/>
                <a:cs typeface="Times New Roman" panose="02020603050405020304" pitchFamily="18" charset="0"/>
              </a:rPr>
              <a:t>, the model achieves high accuracy and integrates </a:t>
            </a:r>
            <a:r>
              <a:rPr lang="en-US" sz="1500" b="1" dirty="0">
                <a:latin typeface="Times New Roman" panose="02020603050405020304" pitchFamily="18" charset="0"/>
                <a:cs typeface="Times New Roman" panose="02020603050405020304" pitchFamily="18" charset="0"/>
              </a:rPr>
              <a:t>Explainable AI (XAI)</a:t>
            </a:r>
            <a:r>
              <a:rPr lang="en-US" sz="1500" dirty="0">
                <a:latin typeface="Times New Roman" panose="02020603050405020304" pitchFamily="18" charset="0"/>
                <a:cs typeface="Times New Roman" panose="02020603050405020304" pitchFamily="18" charset="0"/>
              </a:rPr>
              <a:t> with SHAP to ensure transparency in the decision-making process. This approach helps healthcare professionals understand the model’s predictions, making it more reliable and accessible for real-world applications.</a:t>
            </a:r>
            <a:br>
              <a:rPr lang="en-US" sz="1500" dirty="0">
                <a:latin typeface="Times New Roman" panose="02020603050405020304" pitchFamily="18" charset="0"/>
                <a:cs typeface="Times New Roman" panose="02020603050405020304" pitchFamily="18" charset="0"/>
              </a:rPr>
            </a:br>
            <a:endParaRPr lang="en-IN" sz="1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0EEA2-F79F-4665-B964-141DA238CC58}" type="slidenum">
              <a:rPr lang="en-US" smtClean="0"/>
              <a:pPr/>
              <a:t>4</a:t>
            </a:fld>
            <a:endParaRPr lang="en-US"/>
          </a:p>
        </p:txBody>
      </p:sp>
      <p:sp>
        <p:nvSpPr>
          <p:cNvPr id="8" name="TextBox 7">
            <a:extLst>
              <a:ext uri="{FF2B5EF4-FFF2-40B4-BE49-F238E27FC236}">
                <a16:creationId xmlns:a16="http://schemas.microsoft.com/office/drawing/2014/main" id="{A6E463CA-A1A8-ABDE-E9C2-2D7048C4DA2A}"/>
              </a:ext>
            </a:extLst>
          </p:cNvPr>
          <p:cNvSpPr txBox="1"/>
          <p:nvPr/>
        </p:nvSpPr>
        <p:spPr>
          <a:xfrm>
            <a:off x="424450" y="1030496"/>
            <a:ext cx="4408899" cy="707886"/>
          </a:xfrm>
          <a:prstGeom prst="rect">
            <a:avLst/>
          </a:prstGeom>
          <a:noFill/>
        </p:spPr>
        <p:txBody>
          <a:bodyPr wrap="none" rtlCol="0">
            <a:spAutoFit/>
          </a:bodyPr>
          <a:lstStyle/>
          <a:p>
            <a:pPr algn="just"/>
            <a:r>
              <a:rPr lang="en-US"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5975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7A09BBEA-0E2F-BA29-53E6-080A3F18B1A0}"/>
              </a:ext>
            </a:extLst>
          </p:cNvPr>
          <p:cNvSpPr>
            <a:spLocks noGrp="1"/>
          </p:cNvSpPr>
          <p:nvPr>
            <p:ph type="title"/>
          </p:nvPr>
        </p:nvSpPr>
        <p:spPr>
          <a:xfrm>
            <a:off x="457200" y="838200"/>
            <a:ext cx="8229600" cy="1143000"/>
          </a:xfrm>
        </p:spPr>
        <p:txBody>
          <a:bodyPr/>
          <a:lstStyle/>
          <a:p>
            <a:pPr algn="l"/>
            <a:r>
              <a:rPr lang="en-US" sz="4000" b="1" dirty="0">
                <a:latin typeface="Times New Roman" panose="02020603050405020304" pitchFamily="18" charset="0"/>
                <a:cs typeface="Times New Roman" panose="02020603050405020304" pitchFamily="18" charset="0"/>
              </a:rPr>
              <a:t>Objectives</a:t>
            </a:r>
            <a:endParaRPr lang="en-IN" dirty="0"/>
          </a:p>
        </p:txBody>
      </p:sp>
      <p:sp>
        <p:nvSpPr>
          <p:cNvPr id="8" name="Content Placeholder 7">
            <a:extLst>
              <a:ext uri="{FF2B5EF4-FFF2-40B4-BE49-F238E27FC236}">
                <a16:creationId xmlns:a16="http://schemas.microsoft.com/office/drawing/2014/main" id="{773FE52E-CC38-8ADC-D96F-10FC0B7EF8AB}"/>
              </a:ext>
            </a:extLst>
          </p:cNvPr>
          <p:cNvSpPr>
            <a:spLocks noGrp="1"/>
          </p:cNvSpPr>
          <p:nvPr>
            <p:ph idx="1"/>
          </p:nvPr>
        </p:nvSpPr>
        <p:spPr>
          <a:xfrm>
            <a:off x="457200" y="1593056"/>
            <a:ext cx="8229600" cy="4525963"/>
          </a:xfrm>
        </p:spPr>
        <p:txBody>
          <a:bodyPr>
            <a:normAutofit/>
          </a:bodyPr>
          <a:lstStyle/>
          <a:p>
            <a:pPr marL="0" indent="0" algn="just">
              <a:buNone/>
            </a:pPr>
            <a:endParaRPr lang="en-US" sz="15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The primary objectives of this project are as follows: </a:t>
            </a:r>
          </a:p>
          <a:p>
            <a:pPr marL="0" indent="0" algn="just">
              <a:buNone/>
            </a:pPr>
            <a:endParaRPr lang="en-US" sz="15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an Accurate Diabetes Detection Model</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deep learning model using the Framingham dataset to predict diabetes risk with high accuracy.</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Explainable AI (XAI)</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SHAP to provide interpretable predictions and enhance model transparency for healthcare professionals.</a:t>
            </a:r>
          </a:p>
          <a:p>
            <a:pPr eaLnBrk="0" fontAlgn="base" hangingPunct="0">
              <a:spcBef>
                <a:spcPct val="0"/>
              </a:spcBef>
              <a:spcAft>
                <a:spcPct val="0"/>
              </a:spcAf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Healthcare Decision-Making</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 insights to help doctors make informed, data-driven decisions on diabetes management.</a:t>
            </a:r>
          </a:p>
          <a:p>
            <a:pPr eaLnBrk="0" fontAlgn="base" hangingPunct="0">
              <a:spcBef>
                <a:spcPct val="0"/>
              </a:spcBef>
              <a:spcAft>
                <a:spcPct val="0"/>
              </a:spcAf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 Model Performance</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 for </a:t>
            </a:r>
            <a:r>
              <a:rPr lang="en-US" altLang="en-US" sz="1500" dirty="0">
                <a:latin typeface="Times New Roman" panose="02020603050405020304" pitchFamily="18" charset="0"/>
                <a:cs typeface="Times New Roman" panose="02020603050405020304" pitchFamily="18" charset="0"/>
              </a:rPr>
              <a:t>high</a:t>
            </a:r>
            <a:r>
              <a:rPr lang="en-US" altLang="en-US" sz="1500" b="1" dirty="0">
                <a:latin typeface="Times New Roman" panose="02020603050405020304" pitchFamily="18" charset="0"/>
                <a:cs typeface="Times New Roman" panose="02020603050405020304" pitchFamily="18" charset="0"/>
              </a:rPr>
              <a:t> </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and optimize the model for reliable diabetes prediction.</a:t>
            </a:r>
          </a:p>
          <a:p>
            <a:pPr eaLnBrk="0" fontAlgn="base" hangingPunct="0">
              <a:spcBef>
                <a:spcPct val="0"/>
              </a:spcBef>
              <a:spcAft>
                <a:spcPct val="0"/>
              </a:spcAf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Practical and Scalable Use</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the model for real-world healthcare application and scalability across diverse patient populations.</a:t>
            </a:r>
          </a:p>
          <a:p>
            <a:pPr marL="0" indent="0" eaLnBrk="0" fontAlgn="base" hangingPunct="0">
              <a:spcBef>
                <a:spcPct val="0"/>
              </a:spcBef>
              <a:spcAft>
                <a:spcPct val="0"/>
              </a:spcAft>
              <a:buNone/>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buNone/>
            </a:pPr>
            <a:endParaRPr lang="en-US" sz="1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0EEA2-F79F-4665-B964-141DA238CC58}" type="slidenum">
              <a:rPr lang="en-US" smtClean="0"/>
              <a:pPr/>
              <a:t>5</a:t>
            </a:fld>
            <a:endParaRPr lang="en-US"/>
          </a:p>
        </p:txBody>
      </p:sp>
    </p:spTree>
    <p:extLst>
      <p:ext uri="{BB962C8B-B14F-4D97-AF65-F5344CB8AC3E}">
        <p14:creationId xmlns:p14="http://schemas.microsoft.com/office/powerpoint/2010/main" val="1593320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033913A6-25EB-51B5-0F8C-C80D63D310FC}"/>
              </a:ext>
            </a:extLst>
          </p:cNvPr>
          <p:cNvSpPr>
            <a:spLocks noGrp="1"/>
          </p:cNvSpPr>
          <p:nvPr>
            <p:ph type="title"/>
          </p:nvPr>
        </p:nvSpPr>
        <p:spPr>
          <a:xfrm>
            <a:off x="457200" y="943824"/>
            <a:ext cx="8229600" cy="914400"/>
          </a:xfrm>
        </p:spPr>
        <p:txBody>
          <a:bodyPr>
            <a:normAutofit/>
          </a:bodyPr>
          <a:lstStyle/>
          <a:p>
            <a:pPr algn="l"/>
            <a:r>
              <a:rPr lang="en-US" sz="4000" b="1" dirty="0">
                <a:latin typeface="Times New Roman" panose="02020603050405020304" pitchFamily="18" charset="0"/>
                <a:cs typeface="Times New Roman" panose="02020603050405020304" pitchFamily="18" charset="0"/>
              </a:rPr>
              <a:t>Literature Survey</a:t>
            </a:r>
            <a:endParaRPr lang="en-IN" sz="40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705A03FA-5A73-17F4-6446-6BE2015DE5DA}"/>
              </a:ext>
            </a:extLst>
          </p:cNvPr>
          <p:cNvSpPr>
            <a:spLocks noGrp="1"/>
          </p:cNvSpPr>
          <p:nvPr>
            <p:ph idx="1"/>
          </p:nvPr>
        </p:nvSpPr>
        <p:spPr>
          <a:xfrm>
            <a:off x="457200" y="1842751"/>
            <a:ext cx="8229600" cy="4525963"/>
          </a:xfrm>
        </p:spPr>
        <p:txBody>
          <a:bodyPr>
            <a:noAutofit/>
          </a:bodyPr>
          <a:lstStyle/>
          <a:p>
            <a:r>
              <a:rPr lang="en-US" sz="1600" b="1" dirty="0">
                <a:latin typeface="Times New Roman" panose="02020603050405020304" pitchFamily="18" charset="0"/>
                <a:cs typeface="Times New Roman" panose="02020603050405020304" pitchFamily="18" charset="0"/>
              </a:rPr>
              <a:t>Traditional Machine Learning Models</a:t>
            </a:r>
          </a:p>
          <a:p>
            <a:pPr>
              <a:buFont typeface="+mj-lt"/>
              <a:buAutoNum type="arabicPeriod"/>
            </a:pPr>
            <a:r>
              <a:rPr lang="en-US" sz="1500" b="1" dirty="0">
                <a:latin typeface="Times New Roman" panose="02020603050405020304" pitchFamily="18" charset="0"/>
                <a:cs typeface="Times New Roman" panose="02020603050405020304" pitchFamily="18" charset="0"/>
              </a:rPr>
              <a:t>Logistic Regression &amp; SVM</a:t>
            </a:r>
            <a:r>
              <a:rPr lang="en-US" sz="1500" dirty="0">
                <a:latin typeface="Times New Roman" panose="02020603050405020304" pitchFamily="18" charset="0"/>
                <a:cs typeface="Times New Roman" panose="02020603050405020304" pitchFamily="18" charset="0"/>
              </a:rPr>
              <a:t>: Widely used for diabetes prediction, these models offer decent accuracy (80-85%) but struggle with interpretability and handling complex data patterns.</a:t>
            </a:r>
          </a:p>
          <a:p>
            <a:pPr>
              <a:buFont typeface="+mj-lt"/>
              <a:buAutoNum type="arabicPeriod"/>
            </a:pPr>
            <a:r>
              <a:rPr lang="en-US" sz="1500" b="1" dirty="0">
                <a:latin typeface="Times New Roman" panose="02020603050405020304" pitchFamily="18" charset="0"/>
                <a:cs typeface="Times New Roman" panose="02020603050405020304" pitchFamily="18" charset="0"/>
              </a:rPr>
              <a:t>Limitations</a:t>
            </a:r>
            <a:r>
              <a:rPr lang="en-US" sz="1500" dirty="0">
                <a:latin typeface="Times New Roman" panose="02020603050405020304" pitchFamily="18" charset="0"/>
                <a:cs typeface="Times New Roman" panose="02020603050405020304" pitchFamily="18" charset="0"/>
              </a:rPr>
              <a:t>: While effective, these models often miss the intricate relationships between features, leading to lower accuracy and limited real-world applicability.</a:t>
            </a:r>
          </a:p>
          <a:p>
            <a:r>
              <a:rPr lang="en-US" sz="1600" b="1" dirty="0">
                <a:latin typeface="Times New Roman" panose="02020603050405020304" pitchFamily="18" charset="0"/>
                <a:cs typeface="Times New Roman" panose="02020603050405020304" pitchFamily="18" charset="0"/>
              </a:rPr>
              <a:t>Deep Learning Approaches</a:t>
            </a:r>
          </a:p>
          <a:p>
            <a:pPr>
              <a:buFont typeface="+mj-lt"/>
              <a:buAutoNum type="arabicPeriod"/>
            </a:pPr>
            <a:r>
              <a:rPr lang="en-US" sz="1500" b="1" dirty="0">
                <a:latin typeface="Times New Roman" panose="02020603050405020304" pitchFamily="18" charset="0"/>
                <a:cs typeface="Times New Roman" panose="02020603050405020304" pitchFamily="18" charset="0"/>
              </a:rPr>
              <a:t>Neural Networks</a:t>
            </a:r>
            <a:r>
              <a:rPr lang="en-US" sz="1500" dirty="0">
                <a:latin typeface="Times New Roman" panose="02020603050405020304" pitchFamily="18" charset="0"/>
                <a:cs typeface="Times New Roman" panose="02020603050405020304" pitchFamily="18" charset="0"/>
              </a:rPr>
              <a:t>: Recent studies show that deep learning models, particularly neural networks, outperform traditional methods, providing higher accuracy in predicting diabetes.</a:t>
            </a:r>
          </a:p>
          <a:p>
            <a:pPr>
              <a:buFont typeface="+mj-lt"/>
              <a:buAutoNum type="arabicPeriod"/>
            </a:pPr>
            <a:r>
              <a:rPr lang="en-US" sz="1500" b="1" dirty="0">
                <a:latin typeface="Times New Roman" panose="02020603050405020304" pitchFamily="18" charset="0"/>
                <a:cs typeface="Times New Roman" panose="02020603050405020304" pitchFamily="18" charset="0"/>
              </a:rPr>
              <a:t>Advantages</a:t>
            </a:r>
            <a:r>
              <a:rPr lang="en-US" sz="1500" dirty="0">
                <a:latin typeface="Times New Roman" panose="02020603050405020304" pitchFamily="18" charset="0"/>
                <a:cs typeface="Times New Roman" panose="02020603050405020304" pitchFamily="18" charset="0"/>
              </a:rPr>
              <a:t>: Neural networks can capture complex, non-linear relationships in data, improving prediction accuracy, especially with large datasets like the Framingham dataset.</a:t>
            </a:r>
          </a:p>
          <a:p>
            <a:r>
              <a:rPr lang="en-US" sz="1600" b="1" dirty="0">
                <a:latin typeface="Times New Roman" panose="02020603050405020304" pitchFamily="18" charset="0"/>
                <a:cs typeface="Times New Roman" panose="02020603050405020304" pitchFamily="18" charset="0"/>
              </a:rPr>
              <a:t>Explainable AI (XAI)</a:t>
            </a:r>
          </a:p>
          <a:p>
            <a:pPr>
              <a:buFont typeface="+mj-lt"/>
              <a:buAutoNum type="arabicPeriod"/>
            </a:pPr>
            <a:r>
              <a:rPr lang="en-US" sz="1500" b="1" dirty="0">
                <a:latin typeface="Times New Roman" panose="02020603050405020304" pitchFamily="18" charset="0"/>
                <a:cs typeface="Times New Roman" panose="02020603050405020304" pitchFamily="18" charset="0"/>
              </a:rPr>
              <a:t>SHAP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SHapley</a:t>
            </a:r>
            <a:r>
              <a:rPr lang="en-US" sz="1500" dirty="0">
                <a:latin typeface="Times New Roman" panose="02020603050405020304" pitchFamily="18" charset="0"/>
                <a:cs typeface="Times New Roman" panose="02020603050405020304" pitchFamily="18" charset="0"/>
              </a:rPr>
              <a:t> Additive </a:t>
            </a:r>
            <a:r>
              <a:rPr lang="en-US" sz="1500" dirty="0" err="1">
                <a:latin typeface="Times New Roman" panose="02020603050405020304" pitchFamily="18" charset="0"/>
                <a:cs typeface="Times New Roman" panose="02020603050405020304" pitchFamily="18" charset="0"/>
              </a:rPr>
              <a:t>exPlanations</a:t>
            </a:r>
            <a:r>
              <a:rPr lang="en-US" sz="1500" dirty="0">
                <a:latin typeface="Times New Roman" panose="02020603050405020304" pitchFamily="18" charset="0"/>
                <a:cs typeface="Times New Roman" panose="02020603050405020304" pitchFamily="18" charset="0"/>
              </a:rPr>
              <a:t> (SHAP) has gained popularity for improving transparency in deep learning models. It allows healthcare professionals to understand feature contributions to predictions, enhancing trust in AI.</a:t>
            </a:r>
          </a:p>
          <a:p>
            <a:pPr marL="0" indent="0" algn="just">
              <a:buNone/>
            </a:pPr>
            <a:endParaRPr lang="en-US" sz="1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0EEA2-F79F-4665-B964-141DA238CC58}" type="slidenum">
              <a:rPr lang="en-US" smtClean="0"/>
              <a:pPr/>
              <a:t>6</a:t>
            </a:fld>
            <a:endParaRPr lang="en-US" dirty="0"/>
          </a:p>
        </p:txBody>
      </p:sp>
    </p:spTree>
    <p:extLst>
      <p:ext uri="{BB962C8B-B14F-4D97-AF65-F5344CB8AC3E}">
        <p14:creationId xmlns:p14="http://schemas.microsoft.com/office/powerpoint/2010/main" val="2931289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9561EDE6-EB05-55F1-6D2D-C35F28309303}"/>
              </a:ext>
            </a:extLst>
          </p:cNvPr>
          <p:cNvSpPr>
            <a:spLocks noGrp="1"/>
          </p:cNvSpPr>
          <p:nvPr>
            <p:ph type="title"/>
          </p:nvPr>
        </p:nvSpPr>
        <p:spPr>
          <a:xfrm>
            <a:off x="457200" y="838200"/>
            <a:ext cx="8229600" cy="1143000"/>
          </a:xfrm>
        </p:spPr>
        <p:txBody>
          <a:bodyPr>
            <a:normAutofit/>
          </a:bodyPr>
          <a:lstStyle/>
          <a:p>
            <a:pPr algn="l"/>
            <a:r>
              <a:rPr lang="en-US" sz="4000" b="1" dirty="0">
                <a:latin typeface="Times New Roman" panose="02020603050405020304" pitchFamily="18" charset="0"/>
                <a:cs typeface="Times New Roman" panose="02020603050405020304" pitchFamily="18" charset="0"/>
              </a:rPr>
              <a:t>Literature Survey</a:t>
            </a:r>
            <a:endParaRPr lang="en-IN" sz="4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0EEA2-F79F-4665-B964-141DA238CC58}" type="slidenum">
              <a:rPr lang="en-US" smtClean="0"/>
              <a:pPr/>
              <a:t>7</a:t>
            </a:fld>
            <a:endParaRPr lang="en-US"/>
          </a:p>
        </p:txBody>
      </p:sp>
      <p:sp>
        <p:nvSpPr>
          <p:cNvPr id="12" name="Rectangle 2">
            <a:extLst>
              <a:ext uri="{FF2B5EF4-FFF2-40B4-BE49-F238E27FC236}">
                <a16:creationId xmlns:a16="http://schemas.microsoft.com/office/drawing/2014/main" id="{27738D0B-8024-21A1-8870-519EB7BCDF88}"/>
              </a:ext>
            </a:extLst>
          </p:cNvPr>
          <p:cNvSpPr>
            <a:spLocks noGrp="1" noChangeArrowheads="1"/>
          </p:cNvSpPr>
          <p:nvPr>
            <p:ph idx="1"/>
          </p:nvPr>
        </p:nvSpPr>
        <p:spPr bwMode="auto">
          <a:xfrm>
            <a:off x="650810" y="1945433"/>
            <a:ext cx="7842380" cy="2619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t>Importance in Healthcare</a:t>
            </a:r>
          </a:p>
          <a:p>
            <a:pPr>
              <a:buFont typeface="+mj-lt"/>
              <a:buAutoNum type="arabicPeriod"/>
            </a:pPr>
            <a:r>
              <a:rPr lang="en-US" sz="1500" dirty="0"/>
              <a:t> </a:t>
            </a:r>
            <a:r>
              <a:rPr lang="en-US" sz="1500" b="1" dirty="0"/>
              <a:t>XAI</a:t>
            </a:r>
            <a:r>
              <a:rPr lang="en-US" sz="1500" dirty="0"/>
              <a:t> is crucial in medical applications, where understanding model decisions can directly impact patient care and treatment strategies.</a:t>
            </a:r>
          </a:p>
          <a:p>
            <a:r>
              <a:rPr lang="en-US" sz="1600" b="1" dirty="0"/>
              <a:t>Integration of Deep Learning and XAI</a:t>
            </a:r>
          </a:p>
          <a:p>
            <a:pPr>
              <a:buFont typeface="+mj-lt"/>
              <a:buAutoNum type="arabicPeriod"/>
            </a:pPr>
            <a:r>
              <a:rPr lang="en-US" sz="1500" b="1" dirty="0"/>
              <a:t>Combined Approach</a:t>
            </a:r>
            <a:r>
              <a:rPr lang="en-US" sz="1500" dirty="0"/>
              <a:t>: Some recent studies combine deep learning with XAI techniques like SHAP to achieve both high accuracy and interpretability, addressing the need for reliable and transparent models in healthcare.</a:t>
            </a:r>
          </a:p>
          <a:p>
            <a:pPr>
              <a:buFont typeface="+mj-lt"/>
              <a:buAutoNum type="arabicPeriod"/>
            </a:pPr>
            <a:r>
              <a:rPr lang="en-US" sz="1500" b="1" dirty="0"/>
              <a:t>Outcome</a:t>
            </a:r>
            <a:r>
              <a:rPr lang="en-US" sz="1500" dirty="0"/>
              <a:t>: These integrated models show great promise in not only predicting diabetes with high accuracy but also explaining the factors influencing the predictions, making them more suitable for practical use in healthcare.</a:t>
            </a:r>
          </a:p>
        </p:txBody>
      </p:sp>
      <p:sp>
        <p:nvSpPr>
          <p:cNvPr id="13" name="Rectangle 3">
            <a:extLst>
              <a:ext uri="{FF2B5EF4-FFF2-40B4-BE49-F238E27FC236}">
                <a16:creationId xmlns:a16="http://schemas.microsoft.com/office/drawing/2014/main" id="{94E4E797-E2F3-6C73-47C4-EDF8DB27425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7124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5B47E-5470-523B-17B0-15EF339E4DDC}"/>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F542922E-E299-8365-749C-BFB096266ADA}"/>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D6B932B6-C19B-BD7C-9B76-A4D10CA8C00C}"/>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417DCD9B-E2CB-A9AC-29E8-429F9EF2A575}"/>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04436591-B639-DD2F-3E58-45971CAF773C}"/>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90B706F2-EEDC-01DB-BF01-DCC82ECCCA86}"/>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EEB24701-4020-5D94-71B2-81FD902407F7}"/>
              </a:ext>
            </a:extLst>
          </p:cNvPr>
          <p:cNvSpPr>
            <a:spLocks noGrp="1"/>
          </p:cNvSpPr>
          <p:nvPr>
            <p:ph type="title"/>
          </p:nvPr>
        </p:nvSpPr>
        <p:spPr>
          <a:xfrm>
            <a:off x="457200" y="838200"/>
            <a:ext cx="8229600" cy="1143000"/>
          </a:xfrm>
        </p:spPr>
        <p:txBody>
          <a:bodyPr>
            <a:normAutofit/>
          </a:bodyPr>
          <a:lstStyle/>
          <a:p>
            <a:pPr algn="l"/>
            <a:r>
              <a:rPr lang="en-US" sz="4000" b="1" dirty="0">
                <a:latin typeface="Times New Roman" panose="02020603050405020304" pitchFamily="18" charset="0"/>
                <a:cs typeface="Times New Roman" panose="02020603050405020304" pitchFamily="18" charset="0"/>
              </a:rPr>
              <a:t>Literature Survey</a:t>
            </a:r>
            <a:endParaRPr lang="en-IN" sz="4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E58547C-ECFF-1E63-69E1-003C7D9AFAC9}"/>
              </a:ext>
            </a:extLst>
          </p:cNvPr>
          <p:cNvSpPr>
            <a:spLocks noGrp="1"/>
          </p:cNvSpPr>
          <p:nvPr>
            <p:ph type="sldNum" sz="quarter" idx="12"/>
          </p:nvPr>
        </p:nvSpPr>
        <p:spPr/>
        <p:txBody>
          <a:bodyPr/>
          <a:lstStyle/>
          <a:p>
            <a:fld id="{3380EEA2-F79F-4665-B964-141DA238CC58}" type="slidenum">
              <a:rPr lang="en-US" smtClean="0"/>
              <a:pPr/>
              <a:t>8</a:t>
            </a:fld>
            <a:endParaRPr lang="en-US"/>
          </a:p>
        </p:txBody>
      </p:sp>
      <p:pic>
        <p:nvPicPr>
          <p:cNvPr id="10" name="Content Placeholder 9">
            <a:extLst>
              <a:ext uri="{FF2B5EF4-FFF2-40B4-BE49-F238E27FC236}">
                <a16:creationId xmlns:a16="http://schemas.microsoft.com/office/drawing/2014/main" id="{63A74058-8695-5DD3-46C2-586965A4E2E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87694" y="2317102"/>
            <a:ext cx="4920669" cy="340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3">
            <a:extLst>
              <a:ext uri="{FF2B5EF4-FFF2-40B4-BE49-F238E27FC236}">
                <a16:creationId xmlns:a16="http://schemas.microsoft.com/office/drawing/2014/main" id="{7D4470CA-26BE-BB1B-686E-12792E67FD8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76583F75-FC8F-DE4F-87D4-BC3F9438D192}"/>
              </a:ext>
            </a:extLst>
          </p:cNvPr>
          <p:cNvSpPr txBox="1"/>
          <p:nvPr/>
        </p:nvSpPr>
        <p:spPr>
          <a:xfrm>
            <a:off x="5531498" y="2317102"/>
            <a:ext cx="2971800" cy="1015663"/>
          </a:xfrm>
          <a:prstGeom prst="rect">
            <a:avLst/>
          </a:prstGeom>
          <a:noFill/>
        </p:spPr>
        <p:txBody>
          <a:bodyPr wrap="square" rtlCol="0">
            <a:spAutoFit/>
          </a:bodyPr>
          <a:lstStyle/>
          <a:p>
            <a:r>
              <a:rPr lang="en-IN" sz="1500" dirty="0">
                <a:latin typeface="Times New Roman" panose="02020603050405020304" pitchFamily="18" charset="0"/>
                <a:cs typeface="Times New Roman" panose="02020603050405020304" pitchFamily="18" charset="0"/>
              </a:rPr>
              <a:t>This graph shows the trend between Age and Diabetes. We can see that with increasing age, the risk of diabetes also increases significantly.</a:t>
            </a:r>
          </a:p>
        </p:txBody>
      </p:sp>
    </p:spTree>
    <p:extLst>
      <p:ext uri="{BB962C8B-B14F-4D97-AF65-F5344CB8AC3E}">
        <p14:creationId xmlns:p14="http://schemas.microsoft.com/office/powerpoint/2010/main" val="2016676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B005-219A-7144-4167-A5BF1D8A265D}"/>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89D51F62-44FF-6B9A-8543-C3C58D5CC3DC}"/>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256FCAAB-0FFE-746B-51B8-1A1A33B907B5}"/>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57DE8A9F-8544-57C0-4604-E7571833EC25}"/>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3403EA0A-3A59-0505-4CB6-45842CAD3367}"/>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FAB6AC43-AC57-E3A2-83A6-7922D00B157A}"/>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E68F2D16-41F0-6FD0-1033-85C0D0EBB4A8}"/>
              </a:ext>
            </a:extLst>
          </p:cNvPr>
          <p:cNvSpPr>
            <a:spLocks noGrp="1"/>
          </p:cNvSpPr>
          <p:nvPr>
            <p:ph type="title"/>
          </p:nvPr>
        </p:nvSpPr>
        <p:spPr>
          <a:xfrm>
            <a:off x="457200" y="838200"/>
            <a:ext cx="8229600" cy="1143000"/>
          </a:xfrm>
        </p:spPr>
        <p:txBody>
          <a:bodyPr>
            <a:normAutofit/>
          </a:bodyPr>
          <a:lstStyle/>
          <a:p>
            <a:pPr algn="l"/>
            <a:r>
              <a:rPr lang="en-US" sz="4000" b="1" dirty="0">
                <a:latin typeface="Times New Roman" panose="02020603050405020304" pitchFamily="18" charset="0"/>
                <a:cs typeface="Times New Roman" panose="02020603050405020304" pitchFamily="18" charset="0"/>
              </a:rPr>
              <a:t>Literature Survey</a:t>
            </a:r>
            <a:endParaRPr lang="en-IN" sz="4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29E3628-04B5-62C4-257E-F9DA580117A1}"/>
              </a:ext>
            </a:extLst>
          </p:cNvPr>
          <p:cNvSpPr>
            <a:spLocks noGrp="1"/>
          </p:cNvSpPr>
          <p:nvPr>
            <p:ph type="sldNum" sz="quarter" idx="12"/>
          </p:nvPr>
        </p:nvSpPr>
        <p:spPr/>
        <p:txBody>
          <a:bodyPr/>
          <a:lstStyle/>
          <a:p>
            <a:fld id="{3380EEA2-F79F-4665-B964-141DA238CC58}" type="slidenum">
              <a:rPr lang="en-US" smtClean="0"/>
              <a:pPr/>
              <a:t>9</a:t>
            </a:fld>
            <a:endParaRPr lang="en-US"/>
          </a:p>
        </p:txBody>
      </p:sp>
      <p:sp>
        <p:nvSpPr>
          <p:cNvPr id="13" name="Rectangle 3">
            <a:extLst>
              <a:ext uri="{FF2B5EF4-FFF2-40B4-BE49-F238E27FC236}">
                <a16:creationId xmlns:a16="http://schemas.microsoft.com/office/drawing/2014/main" id="{38EBEC94-E59A-3A3E-8691-4BEFF9F3E32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DD692557-BD63-6B8E-D91A-C2AA78EF5B2D}"/>
              </a:ext>
            </a:extLst>
          </p:cNvPr>
          <p:cNvSpPr txBox="1"/>
          <p:nvPr/>
        </p:nvSpPr>
        <p:spPr>
          <a:xfrm>
            <a:off x="5836298" y="1981200"/>
            <a:ext cx="2971800" cy="1015663"/>
          </a:xfrm>
          <a:prstGeom prst="rect">
            <a:avLst/>
          </a:prstGeom>
          <a:noFill/>
        </p:spPr>
        <p:txBody>
          <a:bodyPr wrap="square" rtlCol="0">
            <a:spAutoFit/>
          </a:bodyPr>
          <a:lstStyle/>
          <a:p>
            <a:r>
              <a:rPr lang="en-IN" sz="1500" dirty="0">
                <a:latin typeface="Times New Roman" panose="02020603050405020304" pitchFamily="18" charset="0"/>
                <a:cs typeface="Times New Roman" panose="02020603050405020304" pitchFamily="18" charset="0"/>
              </a:rPr>
              <a:t>This confusion matrix </a:t>
            </a:r>
            <a:r>
              <a:rPr lang="en-US" sz="1500" dirty="0">
                <a:latin typeface="Times New Roman" panose="02020603050405020304" pitchFamily="18" charset="0"/>
                <a:cs typeface="Times New Roman" panose="02020603050405020304" pitchFamily="18" charset="0"/>
              </a:rPr>
              <a:t>shows the attribute’s correlation with the outcome for the </a:t>
            </a:r>
            <a:r>
              <a:rPr lang="en-IN" sz="1500" dirty="0">
                <a:latin typeface="Times New Roman" panose="02020603050405020304" pitchFamily="18" charset="0"/>
                <a:cs typeface="Times New Roman" panose="02020603050405020304" pitchFamily="18" charset="0"/>
              </a:rPr>
              <a:t>raw and pre-processed Framingham dataset. </a:t>
            </a:r>
          </a:p>
        </p:txBody>
      </p:sp>
      <p:pic>
        <p:nvPicPr>
          <p:cNvPr id="12" name="Content Placeholder 11">
            <a:extLst>
              <a:ext uri="{FF2B5EF4-FFF2-40B4-BE49-F238E27FC236}">
                <a16:creationId xmlns:a16="http://schemas.microsoft.com/office/drawing/2014/main" id="{697D2D9E-1228-8A7D-71E4-7DEB7E516F9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 y="1905794"/>
            <a:ext cx="5226698" cy="4525963"/>
          </a:xfrm>
        </p:spPr>
      </p:pic>
    </p:spTree>
    <p:extLst>
      <p:ext uri="{BB962C8B-B14F-4D97-AF65-F5344CB8AC3E}">
        <p14:creationId xmlns:p14="http://schemas.microsoft.com/office/powerpoint/2010/main" val="3402294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4A39B-EDED-BE4B-0837-E25FB3180009}"/>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7262CBB8-F864-B512-442D-B92FC8A1562A}"/>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23CEB609-400F-6D5D-C458-90E0CB00676D}"/>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61ABEAF6-83C1-1633-F53B-8A215B510F38}"/>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7E088C17-29FA-433E-573C-BDF31715FE1F}"/>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88FFAC6A-FEDC-A650-0D54-82BA7586BC40}"/>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4C776588-2E0F-D112-DD38-2FC01F647ACB}"/>
              </a:ext>
            </a:extLst>
          </p:cNvPr>
          <p:cNvSpPr>
            <a:spLocks noGrp="1"/>
          </p:cNvSpPr>
          <p:nvPr>
            <p:ph type="title"/>
          </p:nvPr>
        </p:nvSpPr>
        <p:spPr>
          <a:xfrm>
            <a:off x="457200" y="838200"/>
            <a:ext cx="8229600" cy="1143000"/>
          </a:xfrm>
        </p:spPr>
        <p:txBody>
          <a:bodyPr/>
          <a:lstStyle/>
          <a:p>
            <a:pPr algn="l"/>
            <a:r>
              <a:rPr lang="en-US" sz="4000" b="1" dirty="0">
                <a:latin typeface="Times New Roman" panose="02020603050405020304" pitchFamily="18" charset="0"/>
                <a:cs typeface="Times New Roman" panose="02020603050405020304" pitchFamily="18" charset="0"/>
              </a:rPr>
              <a:t>Dataset Details</a:t>
            </a:r>
            <a:endParaRPr lang="en-IN" dirty="0"/>
          </a:p>
        </p:txBody>
      </p:sp>
      <p:sp>
        <p:nvSpPr>
          <p:cNvPr id="4" name="Slide Number Placeholder 3">
            <a:extLst>
              <a:ext uri="{FF2B5EF4-FFF2-40B4-BE49-F238E27FC236}">
                <a16:creationId xmlns:a16="http://schemas.microsoft.com/office/drawing/2014/main" id="{46D3C7CB-464A-93B6-8830-42035F6A0390}"/>
              </a:ext>
            </a:extLst>
          </p:cNvPr>
          <p:cNvSpPr>
            <a:spLocks noGrp="1"/>
          </p:cNvSpPr>
          <p:nvPr>
            <p:ph type="sldNum" sz="quarter" idx="12"/>
          </p:nvPr>
        </p:nvSpPr>
        <p:spPr/>
        <p:txBody>
          <a:bodyPr/>
          <a:lstStyle/>
          <a:p>
            <a:fld id="{3380EEA2-F79F-4665-B964-141DA238CC58}" type="slidenum">
              <a:rPr lang="en-US" smtClean="0"/>
              <a:pPr/>
              <a:t>10</a:t>
            </a:fld>
            <a:endParaRPr lang="en-US"/>
          </a:p>
        </p:txBody>
      </p:sp>
      <p:sp>
        <p:nvSpPr>
          <p:cNvPr id="10" name="Rectangle 1">
            <a:extLst>
              <a:ext uri="{FF2B5EF4-FFF2-40B4-BE49-F238E27FC236}">
                <a16:creationId xmlns:a16="http://schemas.microsoft.com/office/drawing/2014/main" id="{D3FA45BC-A84F-F442-3C90-27630B99FC22}"/>
              </a:ext>
            </a:extLst>
          </p:cNvPr>
          <p:cNvSpPr>
            <a:spLocks noGrp="1" noChangeArrowheads="1"/>
          </p:cNvSpPr>
          <p:nvPr>
            <p:ph idx="1"/>
          </p:nvPr>
        </p:nvSpPr>
        <p:spPr bwMode="auto">
          <a:xfrm>
            <a:off x="457200" y="1963212"/>
            <a:ext cx="81534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Details: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dataset is from the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Framingham Heart Study</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long-term study focused on cardiovascular disease and diabetes.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includes features such as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blood pressure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cholesterol levels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BMI</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smoking habits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physical activity</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alcohol consumption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Variable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primary target variable is whether or not a person develops diabetes, based on various health indicators.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Type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dataset contains numerical values for health indicators and categorical data for lifestyle factors.</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Data Structure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has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4,240 records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16 features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 cover key health aspects like age, BMI, blood pressure, and lifestyle behaviors.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features are crucial in predicting diabetes risk, providing a well-rounded view of the patient’s health.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227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B5E83-C392-D31C-E0F7-97ADCB2DCD3E}"/>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46DA9FB0-9C0E-F9B8-D831-D35D5C558468}"/>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D396A0DA-773B-B2DB-737F-444853BBD665}"/>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345D6981-7028-93B7-D98F-37FDBF09CCA0}"/>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2D68F987-D7F5-94F4-D270-E9A0E14B269D}"/>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120B62C7-541A-D1D7-3F9A-2B0F744F6257}"/>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2F27E24D-20C6-CB3B-A60D-E2F532A673EA}"/>
              </a:ext>
            </a:extLst>
          </p:cNvPr>
          <p:cNvSpPr>
            <a:spLocks noGrp="1"/>
          </p:cNvSpPr>
          <p:nvPr>
            <p:ph type="title"/>
          </p:nvPr>
        </p:nvSpPr>
        <p:spPr>
          <a:xfrm>
            <a:off x="457200" y="838200"/>
            <a:ext cx="8229600" cy="1143000"/>
          </a:xfrm>
        </p:spPr>
        <p:txBody>
          <a:bodyPr/>
          <a:lstStyle/>
          <a:p>
            <a:pPr algn="l"/>
            <a:r>
              <a:rPr lang="en-US" sz="4000" b="1" dirty="0">
                <a:latin typeface="Times New Roman" panose="02020603050405020304" pitchFamily="18" charset="0"/>
                <a:cs typeface="Times New Roman" panose="02020603050405020304" pitchFamily="18" charset="0"/>
              </a:rPr>
              <a:t>Data Preprocessing</a:t>
            </a:r>
            <a:endParaRPr lang="en-IN" dirty="0"/>
          </a:p>
        </p:txBody>
      </p:sp>
      <p:sp>
        <p:nvSpPr>
          <p:cNvPr id="4" name="Slide Number Placeholder 3">
            <a:extLst>
              <a:ext uri="{FF2B5EF4-FFF2-40B4-BE49-F238E27FC236}">
                <a16:creationId xmlns:a16="http://schemas.microsoft.com/office/drawing/2014/main" id="{B8776002-2F30-AA28-BA18-44CA962750BC}"/>
              </a:ext>
            </a:extLst>
          </p:cNvPr>
          <p:cNvSpPr>
            <a:spLocks noGrp="1"/>
          </p:cNvSpPr>
          <p:nvPr>
            <p:ph type="sldNum" sz="quarter" idx="12"/>
          </p:nvPr>
        </p:nvSpPr>
        <p:spPr/>
        <p:txBody>
          <a:bodyPr/>
          <a:lstStyle/>
          <a:p>
            <a:fld id="{3380EEA2-F79F-4665-B964-141DA238CC58}" type="slidenum">
              <a:rPr lang="en-US" smtClean="0"/>
              <a:pPr/>
              <a:t>11</a:t>
            </a:fld>
            <a:endParaRPr lang="en-US"/>
          </a:p>
        </p:txBody>
      </p:sp>
      <p:sp>
        <p:nvSpPr>
          <p:cNvPr id="10" name="Rectangle 1">
            <a:extLst>
              <a:ext uri="{FF2B5EF4-FFF2-40B4-BE49-F238E27FC236}">
                <a16:creationId xmlns:a16="http://schemas.microsoft.com/office/drawing/2014/main" id="{6624D708-3550-966D-1AD7-4C4928A421EE}"/>
              </a:ext>
            </a:extLst>
          </p:cNvPr>
          <p:cNvSpPr>
            <a:spLocks noGrp="1" noChangeArrowheads="1"/>
          </p:cNvSpPr>
          <p:nvPr>
            <p:ph idx="1"/>
          </p:nvPr>
        </p:nvSpPr>
        <p:spPr bwMode="auto">
          <a:xfrm>
            <a:off x="457200" y="1986295"/>
            <a:ext cx="8153400"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US" sz="1500" b="1" dirty="0">
                <a:latin typeface="Times New Roman" panose="02020603050405020304" pitchFamily="18" charset="0"/>
                <a:cs typeface="Times New Roman" panose="02020603050405020304" pitchFamily="18" charset="0"/>
              </a:rPr>
              <a:t>Handling Missing Data</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Missing values were filled using </a:t>
            </a:r>
            <a:r>
              <a:rPr lang="en-US" sz="1500" b="1" dirty="0">
                <a:latin typeface="Times New Roman" panose="02020603050405020304" pitchFamily="18" charset="0"/>
                <a:cs typeface="Times New Roman" panose="02020603050405020304" pitchFamily="18" charset="0"/>
              </a:rPr>
              <a:t>Min-Max Scaling</a:t>
            </a:r>
            <a:r>
              <a:rPr lang="en-US" sz="1500" dirty="0">
                <a:latin typeface="Times New Roman" panose="02020603050405020304" pitchFamily="18" charset="0"/>
                <a:cs typeface="Times New Roman" panose="02020603050405020304" pitchFamily="18" charset="0"/>
              </a:rPr>
              <a:t>, normalizing data to a uniform range (0 to 1) and maintaining consistency across features.</a:t>
            </a:r>
          </a:p>
          <a:p>
            <a:pPr>
              <a:buFont typeface="+mj-lt"/>
              <a:buAutoNum type="arabicPeriod"/>
            </a:pPr>
            <a:r>
              <a:rPr lang="en-US" sz="1500" b="1" dirty="0">
                <a:latin typeface="Times New Roman" panose="02020603050405020304" pitchFamily="18" charset="0"/>
                <a:cs typeface="Times New Roman" panose="02020603050405020304" pitchFamily="18" charset="0"/>
              </a:rPr>
              <a:t>Duplicate Removal</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Duplicate records were removed to avoid redundancy and overfitting, ensuring each record is unique and improving model accuracy.</a:t>
            </a:r>
          </a:p>
          <a:p>
            <a:pPr>
              <a:buFont typeface="+mj-lt"/>
              <a:buAutoNum type="arabicPeriod"/>
            </a:pPr>
            <a:r>
              <a:rPr lang="en-US" sz="1500" b="1" dirty="0">
                <a:latin typeface="Times New Roman" panose="02020603050405020304" pitchFamily="18" charset="0"/>
                <a:cs typeface="Times New Roman" panose="02020603050405020304" pitchFamily="18" charset="0"/>
              </a:rPr>
              <a:t>Feature Selection</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Irrelevant features were removed to focus on the most impactful variables, simplifying the model and enhancing performance.</a:t>
            </a:r>
          </a:p>
          <a:p>
            <a:pPr>
              <a:buFont typeface="+mj-lt"/>
              <a:buAutoNum type="arabicPeriod"/>
            </a:pPr>
            <a:r>
              <a:rPr lang="en-US" sz="1500" b="1" dirty="0">
                <a:latin typeface="Times New Roman" panose="02020603050405020304" pitchFamily="18" charset="0"/>
                <a:cs typeface="Times New Roman" panose="02020603050405020304" pitchFamily="18" charset="0"/>
              </a:rPr>
              <a:t>Scaling and Normalization</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r>
              <a:rPr lang="en-US" sz="1500" b="1" dirty="0">
                <a:latin typeface="Times New Roman" panose="02020603050405020304" pitchFamily="18" charset="0"/>
                <a:cs typeface="Times New Roman" panose="02020603050405020304" pitchFamily="18" charset="0"/>
              </a:rPr>
              <a:t>Min-Max Scaling</a:t>
            </a:r>
            <a:r>
              <a:rPr lang="en-US" sz="1500" dirty="0">
                <a:latin typeface="Times New Roman" panose="02020603050405020304" pitchFamily="18" charset="0"/>
                <a:cs typeface="Times New Roman" panose="02020603050405020304" pitchFamily="18" charset="0"/>
              </a:rPr>
              <a:t> was applied to normalize features, preventing larger values from dominating the model and speeding up training.</a:t>
            </a:r>
          </a:p>
          <a:p>
            <a:pPr>
              <a:buFont typeface="+mj-lt"/>
              <a:buAutoNum type="arabicPeriod"/>
            </a:pPr>
            <a:r>
              <a:rPr lang="en-US" sz="1500" b="1" dirty="0">
                <a:latin typeface="Times New Roman" panose="02020603050405020304" pitchFamily="18" charset="0"/>
                <a:cs typeface="Times New Roman" panose="02020603050405020304" pitchFamily="18" charset="0"/>
              </a:rPr>
              <a:t>Final Dataset</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After preprocessing, the dataset was reduced to </a:t>
            </a:r>
            <a:r>
              <a:rPr lang="en-US" sz="1500" b="1" dirty="0">
                <a:latin typeface="Times New Roman" panose="02020603050405020304" pitchFamily="18" charset="0"/>
                <a:cs typeface="Times New Roman" panose="02020603050405020304" pitchFamily="18" charset="0"/>
              </a:rPr>
              <a:t>4044 records</a:t>
            </a:r>
            <a:r>
              <a:rPr lang="en-US" sz="1500" dirty="0">
                <a:latin typeface="Times New Roman" panose="02020603050405020304" pitchFamily="18" charset="0"/>
                <a:cs typeface="Times New Roman" panose="02020603050405020304" pitchFamily="18" charset="0"/>
              </a:rPr>
              <a:t> with </a:t>
            </a:r>
            <a:r>
              <a:rPr lang="en-US" sz="1500" b="1" dirty="0">
                <a:latin typeface="Times New Roman" panose="02020603050405020304" pitchFamily="18" charset="0"/>
                <a:cs typeface="Times New Roman" panose="02020603050405020304" pitchFamily="18" charset="0"/>
              </a:rPr>
              <a:t>14 features</a:t>
            </a:r>
            <a:r>
              <a:rPr lang="en-US" sz="1500" dirty="0">
                <a:latin typeface="Times New Roman" panose="02020603050405020304" pitchFamily="18" charset="0"/>
                <a:cs typeface="Times New Roman" panose="02020603050405020304" pitchFamily="18" charset="0"/>
              </a:rPr>
              <a:t>, ready for model training with clean, balanced data.</a:t>
            </a:r>
          </a:p>
        </p:txBody>
      </p:sp>
    </p:spTree>
    <p:extLst>
      <p:ext uri="{BB962C8B-B14F-4D97-AF65-F5344CB8AC3E}">
        <p14:creationId xmlns:p14="http://schemas.microsoft.com/office/powerpoint/2010/main" val="116267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048B2-AB54-6DF4-1F43-67FF24FDF13E}"/>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18C6D642-37B1-96BA-FA50-BE69E5DF9BBD}"/>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B7E946F0-6725-0004-3004-82D202BCAC80}"/>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35EDE801-4EBF-F104-4D0B-7B6ECFFCA703}"/>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6ADB970F-7BA7-AA3F-1993-EFF529FC6BB6}"/>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7CC7F013-04B4-1410-FEB7-D31EF3F29B39}"/>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9EEC5367-E891-9CB6-D664-4E951A565170}"/>
              </a:ext>
            </a:extLst>
          </p:cNvPr>
          <p:cNvSpPr>
            <a:spLocks noGrp="1"/>
          </p:cNvSpPr>
          <p:nvPr>
            <p:ph type="title"/>
          </p:nvPr>
        </p:nvSpPr>
        <p:spPr>
          <a:xfrm>
            <a:off x="457200" y="838200"/>
            <a:ext cx="8229600" cy="1143000"/>
          </a:xfrm>
        </p:spPr>
        <p:txBody>
          <a:bodyPr/>
          <a:lstStyle/>
          <a:p>
            <a:pPr algn="l"/>
            <a:r>
              <a:rPr lang="en-US" sz="4000" b="1" dirty="0">
                <a:latin typeface="Times New Roman" panose="02020603050405020304" pitchFamily="18" charset="0"/>
                <a:cs typeface="Times New Roman" panose="02020603050405020304" pitchFamily="18" charset="0"/>
              </a:rPr>
              <a:t>Methodology</a:t>
            </a:r>
            <a:endParaRPr lang="en-IN" dirty="0"/>
          </a:p>
        </p:txBody>
      </p:sp>
      <p:sp>
        <p:nvSpPr>
          <p:cNvPr id="4" name="Slide Number Placeholder 3">
            <a:extLst>
              <a:ext uri="{FF2B5EF4-FFF2-40B4-BE49-F238E27FC236}">
                <a16:creationId xmlns:a16="http://schemas.microsoft.com/office/drawing/2014/main" id="{BD87BA3C-3A1C-ECE7-DE9B-52C04060F66C}"/>
              </a:ext>
            </a:extLst>
          </p:cNvPr>
          <p:cNvSpPr>
            <a:spLocks noGrp="1"/>
          </p:cNvSpPr>
          <p:nvPr>
            <p:ph type="sldNum" sz="quarter" idx="12"/>
          </p:nvPr>
        </p:nvSpPr>
        <p:spPr/>
        <p:txBody>
          <a:bodyPr/>
          <a:lstStyle/>
          <a:p>
            <a:fld id="{3380EEA2-F79F-4665-B964-141DA238CC58}" type="slidenum">
              <a:rPr lang="en-US" smtClean="0"/>
              <a:pPr/>
              <a:t>12</a:t>
            </a:fld>
            <a:endParaRPr lang="en-US"/>
          </a:p>
        </p:txBody>
      </p:sp>
      <p:sp>
        <p:nvSpPr>
          <p:cNvPr id="8" name="Rectangle 1">
            <a:extLst>
              <a:ext uri="{FF2B5EF4-FFF2-40B4-BE49-F238E27FC236}">
                <a16:creationId xmlns:a16="http://schemas.microsoft.com/office/drawing/2014/main" id="{D9E95DDB-4EAC-A0CB-367C-15CE03542B77}"/>
              </a:ext>
            </a:extLst>
          </p:cNvPr>
          <p:cNvSpPr>
            <a:spLocks noGrp="1" noChangeArrowheads="1"/>
          </p:cNvSpPr>
          <p:nvPr>
            <p:ph idx="1"/>
          </p:nvPr>
        </p:nvSpPr>
        <p:spPr bwMode="auto">
          <a:xfrm>
            <a:off x="457201" y="1847798"/>
            <a:ext cx="8153400"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Train-Test Split</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 was split into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80%</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training and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testing. This approach ensures that the model is evaluated on unseen data, improving its generalization and ability to perform on real-world data.</a:t>
            </a:r>
          </a:p>
          <a:p>
            <a:pPr marR="0" lvl="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Algorithms Used</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Various machine learning algorithms were tested, including:</a:t>
            </a: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Vector Machine (SVM)</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Trees</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a:t>
            </a:r>
          </a:p>
          <a:p>
            <a:pPr eaLnBrk="0" fontAlgn="base" hangingPunct="0">
              <a:spcBef>
                <a:spcPct val="0"/>
              </a:spcBef>
              <a:spcAft>
                <a:spcPct val="0"/>
              </a:spcAft>
            </a:pPr>
            <a:r>
              <a:rPr lang="en-US" altLang="en-US" sz="1500" b="1" dirty="0">
                <a:latin typeface="Times New Roman" panose="02020603050405020304" pitchFamily="18" charset="0"/>
                <a:cs typeface="Times New Roman" panose="02020603050405020304" pitchFamily="18" charset="0"/>
              </a:rPr>
              <a:t>Gaussian Naive Bayes Algorithm</a:t>
            </a:r>
            <a:endPar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models were evaluated for their ability to predict diabetes, with accuracy as the primary metric. Their performance was compared to identify the most suitable algorithm for this task.</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5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428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80B39-1199-A1ED-8DF9-9B0D39A6C392}"/>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6C2F36CD-F436-6ABE-0622-F41744E02574}"/>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C2E396F9-579A-1AA5-9D5E-E039A7941B91}"/>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FAFD584F-9081-0ED2-E363-C8F6152F7E63}"/>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A29695B0-62D0-4B49-02E9-8E314C2E83B3}"/>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A078E2D9-06E8-A520-1C84-0B6771285D6F}"/>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B324BCE5-8B6C-4F06-98E7-F024FBAD814C}"/>
              </a:ext>
            </a:extLst>
          </p:cNvPr>
          <p:cNvSpPr>
            <a:spLocks noGrp="1"/>
          </p:cNvSpPr>
          <p:nvPr>
            <p:ph type="title"/>
          </p:nvPr>
        </p:nvSpPr>
        <p:spPr>
          <a:xfrm>
            <a:off x="457200" y="838200"/>
            <a:ext cx="8229600" cy="1143000"/>
          </a:xfrm>
        </p:spPr>
        <p:txBody>
          <a:bodyPr/>
          <a:lstStyle/>
          <a:p>
            <a:pPr algn="l"/>
            <a:r>
              <a:rPr lang="en-US" sz="4000" b="1" dirty="0">
                <a:latin typeface="Times New Roman" panose="02020603050405020304" pitchFamily="18" charset="0"/>
                <a:cs typeface="Times New Roman" panose="02020603050405020304" pitchFamily="18" charset="0"/>
              </a:rPr>
              <a:t>Methodology</a:t>
            </a:r>
            <a:endParaRPr lang="en-IN" dirty="0"/>
          </a:p>
        </p:txBody>
      </p:sp>
      <p:sp>
        <p:nvSpPr>
          <p:cNvPr id="4" name="Slide Number Placeholder 3">
            <a:extLst>
              <a:ext uri="{FF2B5EF4-FFF2-40B4-BE49-F238E27FC236}">
                <a16:creationId xmlns:a16="http://schemas.microsoft.com/office/drawing/2014/main" id="{092A73FB-2532-C784-BAE9-F026DDDDCBF1}"/>
              </a:ext>
            </a:extLst>
          </p:cNvPr>
          <p:cNvSpPr>
            <a:spLocks noGrp="1"/>
          </p:cNvSpPr>
          <p:nvPr>
            <p:ph type="sldNum" sz="quarter" idx="12"/>
          </p:nvPr>
        </p:nvSpPr>
        <p:spPr/>
        <p:txBody>
          <a:bodyPr/>
          <a:lstStyle/>
          <a:p>
            <a:fld id="{3380EEA2-F79F-4665-B964-141DA238CC58}" type="slidenum">
              <a:rPr lang="en-US" smtClean="0"/>
              <a:pPr/>
              <a:t>13</a:t>
            </a:fld>
            <a:endParaRPr lang="en-US"/>
          </a:p>
        </p:txBody>
      </p:sp>
      <p:sp>
        <p:nvSpPr>
          <p:cNvPr id="8" name="Rectangle 1">
            <a:extLst>
              <a:ext uri="{FF2B5EF4-FFF2-40B4-BE49-F238E27FC236}">
                <a16:creationId xmlns:a16="http://schemas.microsoft.com/office/drawing/2014/main" id="{70D7623D-0C32-B64A-C7A5-FFD9972FBDD0}"/>
              </a:ext>
            </a:extLst>
          </p:cNvPr>
          <p:cNvSpPr>
            <a:spLocks noGrp="1" noChangeArrowheads="1"/>
          </p:cNvSpPr>
          <p:nvPr>
            <p:ph idx="1"/>
          </p:nvPr>
        </p:nvSpPr>
        <p:spPr bwMode="auto">
          <a:xfrm>
            <a:off x="457200" y="1970314"/>
            <a:ext cx="8153400" cy="318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500" b="1" dirty="0">
                <a:latin typeface="Times New Roman" panose="02020603050405020304" pitchFamily="18" charset="0"/>
                <a:cs typeface="Times New Roman" panose="02020603050405020304" pitchFamily="18" charset="0"/>
              </a:rPr>
              <a:t>Neural Network Integration</a:t>
            </a:r>
          </a:p>
          <a:p>
            <a:pPr>
              <a:buFont typeface="+mj-lt"/>
              <a:buAutoNum type="arabicPeriod"/>
            </a:pPr>
            <a:r>
              <a:rPr lang="en-US" sz="1500" b="1" dirty="0">
                <a:latin typeface="Times New Roman" panose="02020603050405020304" pitchFamily="18" charset="0"/>
                <a:cs typeface="Times New Roman" panose="02020603050405020304" pitchFamily="18" charset="0"/>
              </a:rPr>
              <a:t>Deep Learning Approach</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To further improve prediction accuracy, </a:t>
            </a:r>
            <a:r>
              <a:rPr lang="en-US" sz="1500" b="1" dirty="0">
                <a:latin typeface="Times New Roman" panose="02020603050405020304" pitchFamily="18" charset="0"/>
                <a:cs typeface="Times New Roman" panose="02020603050405020304" pitchFamily="18" charset="0"/>
              </a:rPr>
              <a:t>neural networks</a:t>
            </a:r>
            <a:r>
              <a:rPr lang="en-US" sz="1500" dirty="0">
                <a:latin typeface="Times New Roman" panose="02020603050405020304" pitchFamily="18" charset="0"/>
                <a:cs typeface="Times New Roman" panose="02020603050405020304" pitchFamily="18" charset="0"/>
              </a:rPr>
              <a:t> were implemented using </a:t>
            </a:r>
            <a:r>
              <a:rPr lang="en-US" sz="1500" b="1" dirty="0">
                <a:latin typeface="Times New Roman" panose="02020603050405020304" pitchFamily="18" charset="0"/>
                <a:cs typeface="Times New Roman" panose="02020603050405020304" pitchFamily="18" charset="0"/>
              </a:rPr>
              <a:t>TensorFlow</a:t>
            </a:r>
            <a:r>
              <a:rPr lang="en-US" sz="1500" dirty="0">
                <a:latin typeface="Times New Roman" panose="02020603050405020304" pitchFamily="18" charset="0"/>
                <a:cs typeface="Times New Roman" panose="02020603050405020304" pitchFamily="18" charset="0"/>
              </a:rPr>
              <a:t>. The neural network model leverages layers of interconnected neurons to automatically learn complex patterns in the data. This deep learning approach showed a significant improvement in predictive performance compared to traditional machine learning models, achieving an accuracy of </a:t>
            </a:r>
            <a:r>
              <a:rPr lang="en-US" sz="1500" b="1" dirty="0">
                <a:latin typeface="Times New Roman" panose="02020603050405020304" pitchFamily="18" charset="0"/>
                <a:cs typeface="Times New Roman" panose="02020603050405020304" pitchFamily="18" charset="0"/>
              </a:rPr>
              <a:t>88.34%</a:t>
            </a:r>
            <a:r>
              <a:rPr lang="en-US" sz="1500" dirty="0">
                <a:latin typeface="Times New Roman" panose="02020603050405020304" pitchFamily="18" charset="0"/>
                <a:cs typeface="Times New Roman" panose="02020603050405020304" pitchFamily="18" charset="0"/>
              </a:rPr>
              <a:t>.</a:t>
            </a:r>
          </a:p>
          <a:p>
            <a:pPr>
              <a:buFont typeface="+mj-lt"/>
              <a:buAutoNum type="arabicPeriod"/>
            </a:pPr>
            <a:r>
              <a:rPr lang="en-US" sz="1500" b="1" dirty="0">
                <a:latin typeface="Times New Roman" panose="02020603050405020304" pitchFamily="18" charset="0"/>
                <a:cs typeface="Times New Roman" panose="02020603050405020304" pitchFamily="18" charset="0"/>
              </a:rPr>
              <a:t>Advantages of Neural Networks</a:t>
            </a:r>
            <a:r>
              <a:rPr lang="en-US" sz="1500" dirty="0">
                <a:latin typeface="Times New Roman" panose="02020603050405020304" pitchFamily="18" charset="0"/>
                <a:cs typeface="Times New Roman" panose="02020603050405020304" pitchFamily="18" charset="0"/>
              </a:rPr>
              <a: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Neural networks are particularly effective for tasks involving complex, non-linear relationships between features. In this project, the model was able to capture intricate patterns related to diabetes risk that simpler models could not. This resulted in higher prediction accuracy and a more reliable tool for healthcare professionals.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179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9C212-CE35-75BC-80A9-A0A5D69D7389}"/>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6A6FD861-28AC-C02E-CD02-C2F41D94BBB7}"/>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911B94AB-8CB5-7966-72EF-9D410CFE192F}"/>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43315ED2-77B0-FFAB-13F2-A9D9FB43E49E}"/>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6291CB19-DDE5-4B81-7D37-44A67A87A8C8}"/>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968385AA-448D-3D7F-AB2E-02FF8A7E621E}"/>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630FC34D-2EE0-6B8D-70FD-4E7C0F5799E4}"/>
              </a:ext>
            </a:extLst>
          </p:cNvPr>
          <p:cNvSpPr>
            <a:spLocks noGrp="1"/>
          </p:cNvSpPr>
          <p:nvPr>
            <p:ph type="title"/>
          </p:nvPr>
        </p:nvSpPr>
        <p:spPr>
          <a:xfrm>
            <a:off x="457200" y="838200"/>
            <a:ext cx="8229600" cy="1143000"/>
          </a:xfrm>
        </p:spPr>
        <p:txBody>
          <a:bodyPr/>
          <a:lstStyle/>
          <a:p>
            <a:pPr algn="l"/>
            <a:r>
              <a:rPr lang="en-US" sz="4000" b="1" dirty="0">
                <a:latin typeface="Times New Roman" panose="02020603050405020304" pitchFamily="18" charset="0"/>
                <a:cs typeface="Times New Roman" panose="02020603050405020304" pitchFamily="18" charset="0"/>
              </a:rPr>
              <a:t>Methodology</a:t>
            </a:r>
            <a:endParaRPr lang="en-IN" dirty="0"/>
          </a:p>
        </p:txBody>
      </p:sp>
      <p:sp>
        <p:nvSpPr>
          <p:cNvPr id="4" name="Slide Number Placeholder 3">
            <a:extLst>
              <a:ext uri="{FF2B5EF4-FFF2-40B4-BE49-F238E27FC236}">
                <a16:creationId xmlns:a16="http://schemas.microsoft.com/office/drawing/2014/main" id="{F46A810A-311C-C272-8B26-54A59F033BC7}"/>
              </a:ext>
            </a:extLst>
          </p:cNvPr>
          <p:cNvSpPr>
            <a:spLocks noGrp="1"/>
          </p:cNvSpPr>
          <p:nvPr>
            <p:ph type="sldNum" sz="quarter" idx="12"/>
          </p:nvPr>
        </p:nvSpPr>
        <p:spPr/>
        <p:txBody>
          <a:bodyPr/>
          <a:lstStyle/>
          <a:p>
            <a:fld id="{3380EEA2-F79F-4665-B964-141DA238CC58}" type="slidenum">
              <a:rPr lang="en-US" smtClean="0"/>
              <a:pPr/>
              <a:t>14</a:t>
            </a:fld>
            <a:endParaRPr lang="en-US"/>
          </a:p>
        </p:txBody>
      </p:sp>
      <p:pic>
        <p:nvPicPr>
          <p:cNvPr id="10" name="Content Placeholder 9">
            <a:extLst>
              <a:ext uri="{FF2B5EF4-FFF2-40B4-BE49-F238E27FC236}">
                <a16:creationId xmlns:a16="http://schemas.microsoft.com/office/drawing/2014/main" id="{65EC8121-9D32-4366-8183-CC8A23ABDC93}"/>
              </a:ext>
            </a:extLst>
          </p:cNvPr>
          <p:cNvPicPr>
            <a:picLocks noGrp="1" noChangeAspect="1"/>
          </p:cNvPicPr>
          <p:nvPr>
            <p:ph idx="1"/>
          </p:nvPr>
        </p:nvPicPr>
        <p:blipFill>
          <a:blip r:embed="rId3"/>
          <a:stretch>
            <a:fillRect/>
          </a:stretch>
        </p:blipFill>
        <p:spPr bwMode="auto">
          <a:xfrm>
            <a:off x="685800" y="1905000"/>
            <a:ext cx="2971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991BFCDB-7F6E-228A-8B4F-D960D91CE439}"/>
              </a:ext>
            </a:extLst>
          </p:cNvPr>
          <p:cNvSpPr txBox="1"/>
          <p:nvPr/>
        </p:nvSpPr>
        <p:spPr>
          <a:xfrm>
            <a:off x="5265576" y="1905000"/>
            <a:ext cx="3040224" cy="4016484"/>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This flowchart provides a clear and structured overview of the entire diabetes detection project. It breaks down the key steps involved in the process, from data collection to the final output. The flowchart helps to visualize the stages, including data preprocessing, model training, evaluation, and the integration of Explainable AI (XAI) for better interpretability. By following this flow, it becomes easier to understand how each component contributes to predicting diabetes risk and how the project achieves its goal of providing accurate and explainable results for healthcare professionals.</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476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AD27D-83C7-3781-08A2-62A70D3CE7F1}"/>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9391E5FA-D3D8-4B74-2417-C4F0FDCBDBE0}"/>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6FE9B07C-DD32-695E-11CE-31649CAB6F6B}"/>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28071CE9-8F82-82C0-A57A-CE9B44F400FE}"/>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FFAC43ED-E822-2822-B776-1F6169583121}"/>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BC17C1A0-27E6-94C9-2F6A-099485DB4515}"/>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20CA0D95-717A-C7DF-85B8-0ECD0152BD29}"/>
              </a:ext>
            </a:extLst>
          </p:cNvPr>
          <p:cNvSpPr>
            <a:spLocks noGrp="1"/>
          </p:cNvSpPr>
          <p:nvPr>
            <p:ph type="title"/>
          </p:nvPr>
        </p:nvSpPr>
        <p:spPr>
          <a:xfrm>
            <a:off x="457200" y="838200"/>
            <a:ext cx="8229600" cy="1143000"/>
          </a:xfrm>
        </p:spPr>
        <p:txBody>
          <a:bodyPr/>
          <a:lstStyle/>
          <a:p>
            <a:pPr algn="l"/>
            <a:r>
              <a:rPr lang="en-US" sz="4000" b="1" dirty="0">
                <a:latin typeface="Times New Roman" panose="02020603050405020304" pitchFamily="18" charset="0"/>
                <a:cs typeface="Times New Roman" panose="02020603050405020304" pitchFamily="18" charset="0"/>
              </a:rPr>
              <a:t>Methodology</a:t>
            </a:r>
            <a:endParaRPr lang="en-IN" dirty="0"/>
          </a:p>
        </p:txBody>
      </p:sp>
      <p:sp>
        <p:nvSpPr>
          <p:cNvPr id="4" name="Slide Number Placeholder 3">
            <a:extLst>
              <a:ext uri="{FF2B5EF4-FFF2-40B4-BE49-F238E27FC236}">
                <a16:creationId xmlns:a16="http://schemas.microsoft.com/office/drawing/2014/main" id="{64C87490-69E9-20AB-D60D-5DA9AA98A3F4}"/>
              </a:ext>
            </a:extLst>
          </p:cNvPr>
          <p:cNvSpPr>
            <a:spLocks noGrp="1"/>
          </p:cNvSpPr>
          <p:nvPr>
            <p:ph type="sldNum" sz="quarter" idx="12"/>
          </p:nvPr>
        </p:nvSpPr>
        <p:spPr/>
        <p:txBody>
          <a:bodyPr/>
          <a:lstStyle/>
          <a:p>
            <a:fld id="{3380EEA2-F79F-4665-B964-141DA238CC58}" type="slidenum">
              <a:rPr lang="en-US" smtClean="0"/>
              <a:pPr/>
              <a:t>15</a:t>
            </a:fld>
            <a:endParaRPr lang="en-US"/>
          </a:p>
        </p:txBody>
      </p:sp>
      <p:sp>
        <p:nvSpPr>
          <p:cNvPr id="12" name="TextBox 11">
            <a:extLst>
              <a:ext uri="{FF2B5EF4-FFF2-40B4-BE49-F238E27FC236}">
                <a16:creationId xmlns:a16="http://schemas.microsoft.com/office/drawing/2014/main" id="{48C80857-7FEE-2EC8-2FC0-59299E514D60}"/>
              </a:ext>
            </a:extLst>
          </p:cNvPr>
          <p:cNvSpPr txBox="1"/>
          <p:nvPr/>
        </p:nvSpPr>
        <p:spPr>
          <a:xfrm>
            <a:off x="5265576" y="1905000"/>
            <a:ext cx="3040224" cy="3323987"/>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The use case diagram shows how healthcare professionals, data scientists, and the system interact. Healthcare professionals input patient data, receive predictions, and use the XAI feature to understand model decisions. Data scientists handle data preprocessing, model training, and evaluation. The system generates predictions and provides explanations using SHAP, ensuring transparency and aiding informed decision-making in diabetes prediction and care.</a:t>
            </a:r>
            <a:endParaRPr lang="en-IN" sz="15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A44CACA8-15BD-249F-6602-F4C0F288806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00743" y="1798637"/>
            <a:ext cx="3302331" cy="4525963"/>
          </a:xfrm>
          <a:prstGeom prst="rect">
            <a:avLst/>
          </a:prstGeom>
          <a:noFill/>
          <a:ln>
            <a:noFill/>
          </a:ln>
        </p:spPr>
      </p:pic>
    </p:spTree>
    <p:extLst>
      <p:ext uri="{BB962C8B-B14F-4D97-AF65-F5344CB8AC3E}">
        <p14:creationId xmlns:p14="http://schemas.microsoft.com/office/powerpoint/2010/main" val="2488450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033913A6-25EB-51B5-0F8C-C80D63D310FC}"/>
              </a:ext>
            </a:extLst>
          </p:cNvPr>
          <p:cNvSpPr>
            <a:spLocks noGrp="1"/>
          </p:cNvSpPr>
          <p:nvPr>
            <p:ph type="title"/>
          </p:nvPr>
        </p:nvSpPr>
        <p:spPr>
          <a:xfrm>
            <a:off x="457200" y="838200"/>
            <a:ext cx="8229600" cy="990600"/>
          </a:xfrm>
        </p:spPr>
        <p:txBody>
          <a:bodyPr>
            <a:normAutofit/>
          </a:bodyPr>
          <a:lstStyle/>
          <a:p>
            <a:pPr algn="l"/>
            <a:r>
              <a:rPr lang="en-IN" sz="4000" b="1" dirty="0">
                <a:latin typeface="Times New Roman" panose="02020603050405020304" pitchFamily="18" charset="0"/>
                <a:cs typeface="Times New Roman" panose="02020603050405020304" pitchFamily="18" charset="0"/>
              </a:rPr>
              <a:t>Model Comparison</a:t>
            </a:r>
          </a:p>
        </p:txBody>
      </p:sp>
      <p:sp>
        <p:nvSpPr>
          <p:cNvPr id="4" name="Slide Number Placeholder 3"/>
          <p:cNvSpPr>
            <a:spLocks noGrp="1"/>
          </p:cNvSpPr>
          <p:nvPr>
            <p:ph type="sldNum" sz="quarter" idx="12"/>
          </p:nvPr>
        </p:nvSpPr>
        <p:spPr/>
        <p:txBody>
          <a:bodyPr/>
          <a:lstStyle/>
          <a:p>
            <a:fld id="{3380EEA2-F79F-4665-B964-141DA238CC58}" type="slidenum">
              <a:rPr lang="en-US" smtClean="0"/>
              <a:pPr/>
              <a:t>16</a:t>
            </a:fld>
            <a:endParaRPr lang="en-US" dirty="0"/>
          </a:p>
        </p:txBody>
      </p:sp>
      <p:sp>
        <p:nvSpPr>
          <p:cNvPr id="12" name="Rectangle 2">
            <a:extLst>
              <a:ext uri="{FF2B5EF4-FFF2-40B4-BE49-F238E27FC236}">
                <a16:creationId xmlns:a16="http://schemas.microsoft.com/office/drawing/2014/main" id="{CD764243-C176-8144-7768-0E842AF5598C}"/>
              </a:ext>
            </a:extLst>
          </p:cNvPr>
          <p:cNvSpPr>
            <a:spLocks noGrp="1" noChangeArrowheads="1"/>
          </p:cNvSpPr>
          <p:nvPr>
            <p:ph idx="1"/>
          </p:nvPr>
        </p:nvSpPr>
        <p:spPr bwMode="auto">
          <a:xfrm>
            <a:off x="533400" y="1555398"/>
            <a:ext cx="8077200"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None/>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Comparison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Several models were tested and compared based on prediction accuracy for diabetes detection:</a:t>
            </a:r>
          </a:p>
          <a:p>
            <a:pPr marL="800100" lvl="1" indent="-342900" eaLnBrk="0" fontAlgn="base" hangingPunct="0">
              <a:spcBef>
                <a:spcPct val="0"/>
              </a:spcBef>
              <a:spcAft>
                <a:spcPct val="0"/>
              </a:spcAft>
              <a:buFont typeface="+mj-lt"/>
              <a:buAutoNum type="arabicPeriod"/>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86.15% accuracy.</a:t>
            </a:r>
          </a:p>
          <a:p>
            <a:pPr marL="800100" lvl="1" indent="-342900" eaLnBrk="0" fontAlgn="base" hangingPunct="0">
              <a:spcBef>
                <a:spcPct val="0"/>
              </a:spcBef>
              <a:spcAft>
                <a:spcPct val="0"/>
              </a:spcAft>
              <a:buFont typeface="+mj-lt"/>
              <a:buAutoNum type="arabicPeriod"/>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Vector Machine (SVM)</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85.95% accuracy.</a:t>
            </a:r>
          </a:p>
          <a:p>
            <a:pPr marL="800100" lvl="1" indent="-342900" eaLnBrk="0" fontAlgn="base" hangingPunct="0">
              <a:spcBef>
                <a:spcPct val="0"/>
              </a:spcBef>
              <a:spcAft>
                <a:spcPct val="0"/>
              </a:spcAft>
              <a:buFont typeface="+mj-lt"/>
              <a:buAutoNum type="arabicPeriod"/>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77.94% accuracy (lowest performance due to overfitting).</a:t>
            </a:r>
          </a:p>
          <a:p>
            <a:pPr marL="800100" lvl="1" indent="-342900" eaLnBrk="0" fontAlgn="base" hangingPunct="0">
              <a:spcBef>
                <a:spcPct val="0"/>
              </a:spcBef>
              <a:spcAft>
                <a:spcPct val="0"/>
              </a:spcAft>
              <a:buFont typeface="+mj-lt"/>
              <a:buAutoNum type="arabicPeriod"/>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85.50% accuracy.</a:t>
            </a:r>
          </a:p>
          <a:p>
            <a:pPr marL="800100" lvl="1" indent="-342900" eaLnBrk="0" fontAlgn="base" hangingPunct="0">
              <a:spcBef>
                <a:spcPct val="0"/>
              </a:spcBef>
              <a:spcAft>
                <a:spcPct val="0"/>
              </a:spcAft>
              <a:buFont typeface="+mj-lt"/>
              <a:buAutoNum type="arabicPeriod"/>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Gaussian Naïve Bayes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83.43% accuracy. </a:t>
            </a:r>
          </a:p>
          <a:p>
            <a:pPr marL="800100" lvl="1" indent="-342900" eaLnBrk="0" fontAlgn="base" hangingPunct="0">
              <a:spcBef>
                <a:spcPct val="0"/>
              </a:spcBef>
              <a:spcAft>
                <a:spcPct val="0"/>
              </a:spcAft>
              <a:buFont typeface="+mj-lt"/>
              <a:buAutoNum type="arabicPeriod"/>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summary, the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Neural Network</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achieved the highest accuracy, demonstrating its ability to capture complex patterns in the data for more precise predictions.</a:t>
            </a:r>
            <a:endParaRPr lang="en-US" altLang="en-US" sz="1500" dirty="0">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None/>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549871C9-6516-F2CD-FDBF-8740B1A3FF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075" y="4324350"/>
            <a:ext cx="3209925" cy="1924050"/>
          </a:xfrm>
          <a:prstGeom prst="rect">
            <a:avLst/>
          </a:prstGeom>
        </p:spPr>
      </p:pic>
      <p:pic>
        <p:nvPicPr>
          <p:cNvPr id="18" name="Picture 17">
            <a:extLst>
              <a:ext uri="{FF2B5EF4-FFF2-40B4-BE49-F238E27FC236}">
                <a16:creationId xmlns:a16="http://schemas.microsoft.com/office/drawing/2014/main" id="{4EA9DACF-674B-B72C-8497-E66AC1EB59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6675" y="4298995"/>
            <a:ext cx="4581525" cy="1847850"/>
          </a:xfrm>
          <a:prstGeom prst="rect">
            <a:avLst/>
          </a:prstGeom>
        </p:spPr>
      </p:pic>
    </p:spTree>
    <p:extLst>
      <p:ext uri="{BB962C8B-B14F-4D97-AF65-F5344CB8AC3E}">
        <p14:creationId xmlns:p14="http://schemas.microsoft.com/office/powerpoint/2010/main" val="2495958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F481-7207-F3E4-A1FD-20C55FA20F74}"/>
            </a:ext>
          </a:extLst>
        </p:cNvPr>
        <p:cNvGrpSpPr/>
        <p:nvPr/>
      </p:nvGrpSpPr>
      <p:grpSpPr>
        <a:xfrm>
          <a:off x="0" y="0"/>
          <a:ext cx="0" cy="0"/>
          <a:chOff x="0" y="0"/>
          <a:chExt cx="0" cy="0"/>
        </a:xfrm>
      </p:grpSpPr>
      <p:grpSp>
        <p:nvGrpSpPr>
          <p:cNvPr id="3" name="Group 7">
            <a:extLst>
              <a:ext uri="{FF2B5EF4-FFF2-40B4-BE49-F238E27FC236}">
                <a16:creationId xmlns:a16="http://schemas.microsoft.com/office/drawing/2014/main" id="{583A0C75-8A74-8BA4-C350-334E6B528A3C}"/>
              </a:ext>
            </a:extLst>
          </p:cNvPr>
          <p:cNvGrpSpPr/>
          <p:nvPr/>
        </p:nvGrpSpPr>
        <p:grpSpPr>
          <a:xfrm>
            <a:off x="0" y="0"/>
            <a:ext cx="9144000" cy="914400"/>
            <a:chOff x="0" y="0"/>
            <a:chExt cx="9144000" cy="1163782"/>
          </a:xfrm>
        </p:grpSpPr>
        <p:sp>
          <p:nvSpPr>
            <p:cNvPr id="5" name="Rounded Rectangle 4">
              <a:extLst>
                <a:ext uri="{FF2B5EF4-FFF2-40B4-BE49-F238E27FC236}">
                  <a16:creationId xmlns:a16="http://schemas.microsoft.com/office/drawing/2014/main" id="{DDB10669-BE0B-738B-BDC6-EA6CA0F28CA4}"/>
                </a:ext>
              </a:extLst>
            </p:cNvPr>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a:extLst>
                <a:ext uri="{FF2B5EF4-FFF2-40B4-BE49-F238E27FC236}">
                  <a16:creationId xmlns:a16="http://schemas.microsoft.com/office/drawing/2014/main" id="{77E7B7B9-6534-5AAB-24B4-D8062B4D6C9A}"/>
                </a:ext>
              </a:extLst>
            </p:cNvPr>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a:extLst>
              <a:ext uri="{FF2B5EF4-FFF2-40B4-BE49-F238E27FC236}">
                <a16:creationId xmlns:a16="http://schemas.microsoft.com/office/drawing/2014/main" id="{795567F3-B83E-8B4E-3353-4D01E59A2A56}"/>
              </a:ext>
            </a:extLst>
          </p:cNvPr>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a:extLst>
              <a:ext uri="{FF2B5EF4-FFF2-40B4-BE49-F238E27FC236}">
                <a16:creationId xmlns:a16="http://schemas.microsoft.com/office/drawing/2014/main" id="{DD844711-ECB2-723B-B26D-70BD5E519AED}"/>
              </a:ext>
            </a:extLst>
          </p:cNvPr>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B937B870-DE18-389A-C30C-D21486B16242}"/>
              </a:ext>
            </a:extLst>
          </p:cNvPr>
          <p:cNvSpPr>
            <a:spLocks noGrp="1"/>
          </p:cNvSpPr>
          <p:nvPr>
            <p:ph type="title"/>
          </p:nvPr>
        </p:nvSpPr>
        <p:spPr>
          <a:xfrm>
            <a:off x="457200" y="838200"/>
            <a:ext cx="8229600" cy="1143000"/>
          </a:xfrm>
        </p:spPr>
        <p:txBody>
          <a:bodyPr>
            <a:normAutofit/>
          </a:bodyPr>
          <a:lstStyle/>
          <a:p>
            <a:pPr algn="l"/>
            <a:r>
              <a:rPr lang="en-IN" sz="4000" b="1" dirty="0">
                <a:latin typeface="Times New Roman" panose="02020603050405020304" pitchFamily="18" charset="0"/>
                <a:cs typeface="Times New Roman" panose="02020603050405020304" pitchFamily="18" charset="0"/>
              </a:rPr>
              <a:t>Proposed Work</a:t>
            </a:r>
          </a:p>
        </p:txBody>
      </p:sp>
      <p:sp>
        <p:nvSpPr>
          <p:cNvPr id="4" name="Slide Number Placeholder 3">
            <a:extLst>
              <a:ext uri="{FF2B5EF4-FFF2-40B4-BE49-F238E27FC236}">
                <a16:creationId xmlns:a16="http://schemas.microsoft.com/office/drawing/2014/main" id="{D33EC8C5-385A-0BBA-F9CF-E72177DF41CC}"/>
              </a:ext>
            </a:extLst>
          </p:cNvPr>
          <p:cNvSpPr>
            <a:spLocks noGrp="1"/>
          </p:cNvSpPr>
          <p:nvPr>
            <p:ph type="sldNum" sz="quarter" idx="12"/>
          </p:nvPr>
        </p:nvSpPr>
        <p:spPr/>
        <p:txBody>
          <a:bodyPr/>
          <a:lstStyle/>
          <a:p>
            <a:fld id="{3380EEA2-F79F-4665-B964-141DA238CC58}" type="slidenum">
              <a:rPr lang="en-US" smtClean="0"/>
              <a:pPr/>
              <a:t>17</a:t>
            </a:fld>
            <a:endParaRPr lang="en-US"/>
          </a:p>
        </p:txBody>
      </p:sp>
      <p:sp>
        <p:nvSpPr>
          <p:cNvPr id="13" name="Rectangle 3">
            <a:extLst>
              <a:ext uri="{FF2B5EF4-FFF2-40B4-BE49-F238E27FC236}">
                <a16:creationId xmlns:a16="http://schemas.microsoft.com/office/drawing/2014/main" id="{E9A642EA-C0D0-FDA2-8FF6-FB09A204AD3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1060B488-B2FE-6FAB-026D-34DC27C0342A}"/>
              </a:ext>
            </a:extLst>
          </p:cNvPr>
          <p:cNvSpPr>
            <a:spLocks noGrp="1" noChangeArrowheads="1"/>
          </p:cNvSpPr>
          <p:nvPr>
            <p:ph idx="1"/>
          </p:nvPr>
        </p:nvSpPr>
        <p:spPr bwMode="auto">
          <a:xfrm>
            <a:off x="650875" y="2465680"/>
            <a:ext cx="788352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US" sz="1500" b="1" dirty="0">
                <a:latin typeface="Times New Roman" panose="02020603050405020304" pitchFamily="18" charset="0"/>
                <a:cs typeface="Times New Roman" panose="02020603050405020304" pitchFamily="18" charset="0"/>
              </a:rPr>
              <a:t>Neural Network Architecture</a:t>
            </a:r>
            <a:r>
              <a:rPr lang="en-US" sz="15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model was built using </a:t>
            </a:r>
            <a:r>
              <a:rPr lang="en-US" sz="1500" b="1" dirty="0">
                <a:latin typeface="Times New Roman" panose="02020603050405020304" pitchFamily="18" charset="0"/>
                <a:cs typeface="Times New Roman" panose="02020603050405020304" pitchFamily="18" charset="0"/>
              </a:rPr>
              <a:t>TensorFlow</a:t>
            </a:r>
            <a:r>
              <a:rPr lang="en-US" sz="1500" dirty="0">
                <a:latin typeface="Times New Roman" panose="02020603050405020304" pitchFamily="18" charset="0"/>
                <a:cs typeface="Times New Roman" panose="02020603050405020304" pitchFamily="18" charset="0"/>
              </a:rPr>
              <a:t>, with an input layer for data features, multiple hidden layers to learn complex patterns, and an output layer for classification.</a:t>
            </a:r>
          </a:p>
          <a:p>
            <a:pPr lvl="1">
              <a:buFont typeface="Arial" panose="020B0604020202020204" pitchFamily="34" charset="0"/>
              <a:buChar char="•"/>
            </a:pPr>
            <a:r>
              <a:rPr lang="en-US" sz="1500" b="1" dirty="0" err="1">
                <a:latin typeface="Times New Roman" panose="02020603050405020304" pitchFamily="18" charset="0"/>
                <a:cs typeface="Times New Roman" panose="02020603050405020304" pitchFamily="18" charset="0"/>
              </a:rPr>
              <a:t>ReLU</a:t>
            </a:r>
            <a:r>
              <a:rPr lang="en-US" sz="1500" dirty="0">
                <a:latin typeface="Times New Roman" panose="02020603050405020304" pitchFamily="18" charset="0"/>
                <a:cs typeface="Times New Roman" panose="02020603050405020304" pitchFamily="18" charset="0"/>
              </a:rPr>
              <a:t> activation functions were used in the hidden layers to help the model capture non-linear relationships in the data.</a:t>
            </a:r>
          </a:p>
          <a:p>
            <a:pPr>
              <a:buFont typeface="+mj-lt"/>
              <a:buAutoNum type="arabicPeriod"/>
            </a:pPr>
            <a:r>
              <a:rPr lang="en-US" sz="1500" b="1" dirty="0">
                <a:latin typeface="Times New Roman" panose="02020603050405020304" pitchFamily="18" charset="0"/>
                <a:cs typeface="Times New Roman" panose="02020603050405020304" pitchFamily="18" charset="0"/>
              </a:rPr>
              <a:t>Performance</a:t>
            </a:r>
            <a:r>
              <a:rPr lang="en-US" sz="15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neural network achieved </a:t>
            </a:r>
            <a:r>
              <a:rPr lang="en-US" sz="1500" b="1" dirty="0">
                <a:latin typeface="Times New Roman" panose="02020603050405020304" pitchFamily="18" charset="0"/>
                <a:cs typeface="Times New Roman" panose="02020603050405020304" pitchFamily="18" charset="0"/>
              </a:rPr>
              <a:t>88.34% accuracy</a:t>
            </a:r>
            <a:r>
              <a:rPr lang="en-US" sz="1500" dirty="0">
                <a:latin typeface="Times New Roman" panose="02020603050405020304" pitchFamily="18" charset="0"/>
                <a:cs typeface="Times New Roman" panose="02020603050405020304" pitchFamily="18" charset="0"/>
              </a:rPr>
              <a:t>, outperforming traditional machine learning models like logistic regression and SVM.</a:t>
            </a:r>
          </a:p>
          <a:p>
            <a:pPr lvl="1">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This high accuracy shows the model's ability to predict diabetes risk with confidence, making it a useful tool for early detection in healthcare.</a:t>
            </a:r>
          </a:p>
        </p:txBody>
      </p:sp>
    </p:spTree>
    <p:extLst>
      <p:ext uri="{BB962C8B-B14F-4D97-AF65-F5344CB8AC3E}">
        <p14:creationId xmlns:p14="http://schemas.microsoft.com/office/powerpoint/2010/main" val="3601647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304EBF97-368F-1638-2D43-514E3EDC2C74}"/>
              </a:ext>
            </a:extLst>
          </p:cNvPr>
          <p:cNvSpPr>
            <a:spLocks noGrp="1"/>
          </p:cNvSpPr>
          <p:nvPr>
            <p:ph type="title"/>
          </p:nvPr>
        </p:nvSpPr>
        <p:spPr>
          <a:xfrm>
            <a:off x="457200" y="838200"/>
            <a:ext cx="8229600" cy="1143000"/>
          </a:xfrm>
        </p:spPr>
        <p:txBody>
          <a:bodyPr>
            <a:normAutofit/>
          </a:bodyPr>
          <a:lstStyle/>
          <a:p>
            <a:pPr algn="l"/>
            <a:r>
              <a:rPr lang="en-IN" sz="4000" b="1" dirty="0">
                <a:latin typeface="Times New Roman" panose="02020603050405020304" pitchFamily="18" charset="0"/>
                <a:cs typeface="Times New Roman" panose="02020603050405020304" pitchFamily="18" charset="0"/>
              </a:rPr>
              <a:t>XAI Integration</a:t>
            </a:r>
          </a:p>
        </p:txBody>
      </p:sp>
      <p:sp>
        <p:nvSpPr>
          <p:cNvPr id="4" name="Slide Number Placeholder 3"/>
          <p:cNvSpPr>
            <a:spLocks noGrp="1"/>
          </p:cNvSpPr>
          <p:nvPr>
            <p:ph type="sldNum" sz="quarter" idx="12"/>
          </p:nvPr>
        </p:nvSpPr>
        <p:spPr/>
        <p:txBody>
          <a:bodyPr/>
          <a:lstStyle/>
          <a:p>
            <a:fld id="{3380EEA2-F79F-4665-B964-141DA238CC58}" type="slidenum">
              <a:rPr lang="en-US" smtClean="0"/>
              <a:pPr/>
              <a:t>18</a:t>
            </a:fld>
            <a:endParaRPr lang="en-US"/>
          </a:p>
        </p:txBody>
      </p:sp>
      <p:sp>
        <p:nvSpPr>
          <p:cNvPr id="12" name="Rectangle 2">
            <a:extLst>
              <a:ext uri="{FF2B5EF4-FFF2-40B4-BE49-F238E27FC236}">
                <a16:creationId xmlns:a16="http://schemas.microsoft.com/office/drawing/2014/main" id="{BC295FA6-FD60-C91C-52D9-736831EB8CDF}"/>
              </a:ext>
            </a:extLst>
          </p:cNvPr>
          <p:cNvSpPr>
            <a:spLocks noGrp="1" noChangeArrowheads="1"/>
          </p:cNvSpPr>
          <p:nvPr>
            <p:ph idx="1"/>
          </p:nvPr>
        </p:nvSpPr>
        <p:spPr bwMode="auto">
          <a:xfrm>
            <a:off x="552450" y="1957052"/>
            <a:ext cx="81915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 of SHAP</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values break down model predictions into contributions from each feature.</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assigns each feature a score that shows its impact on the model's decision.</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healthcare professionals understand which factors are most influential in predicting diabetes risk.</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transparency in AI decisions, ensuring the model's reasoning is clear and interpretable.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Benefits for Healthcare Professionals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explains why a particular prediction is made, helping doctors make more informed decisions.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offers insights into the key health factors influencing diabetes risk, aiding early diagnosis.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visualizing feature importance, doctors can prioritize interventions for patients based on their risk factors.</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interpretability fosters trust in the AI model, increasing its acceptance in clinical settings.</a:t>
            </a:r>
          </a:p>
          <a:p>
            <a:pPr marL="0" indent="0" eaLnBrk="0" fontAlgn="base" hangingPunct="0">
              <a:spcBef>
                <a:spcPct val="0"/>
              </a:spcBef>
              <a:spcAft>
                <a:spcPct val="0"/>
              </a:spcAft>
              <a:buNone/>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209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6DEE1E47-B5EE-17E7-FAB0-9A97F9A0FA66}"/>
              </a:ext>
            </a:extLst>
          </p:cNvPr>
          <p:cNvSpPr>
            <a:spLocks noGrp="1"/>
          </p:cNvSpPr>
          <p:nvPr>
            <p:ph type="title"/>
          </p:nvPr>
        </p:nvSpPr>
        <p:spPr>
          <a:xfrm>
            <a:off x="436984" y="1203649"/>
            <a:ext cx="8229600" cy="1143000"/>
          </a:xfrm>
        </p:spPr>
        <p:txBody>
          <a:bodyPr>
            <a:noAutofit/>
          </a:bodyPr>
          <a:lstStyle/>
          <a:p>
            <a:pPr algn="l"/>
            <a:r>
              <a:rPr lang="en-US" sz="4000" b="1" i="0" dirty="0">
                <a:solidFill>
                  <a:srgbClr val="222222"/>
                </a:solidFill>
                <a:effectLst/>
                <a:latin typeface="Times New Roman" panose="02020603050405020304" pitchFamily="18" charset="0"/>
                <a:cs typeface="Times New Roman" panose="02020603050405020304" pitchFamily="18" charset="0"/>
              </a:rPr>
              <a:t>Conclusion</a:t>
            </a:r>
            <a:br>
              <a:rPr lang="en-US" b="0" i="0" dirty="0">
                <a:solidFill>
                  <a:srgbClr val="222222"/>
                </a:solidFill>
                <a:effectLst/>
              </a:rPr>
            </a:br>
            <a:endParaRPr lang="en-IN" dirty="0"/>
          </a:p>
        </p:txBody>
      </p:sp>
      <p:sp>
        <p:nvSpPr>
          <p:cNvPr id="8" name="Content Placeholder 7">
            <a:extLst>
              <a:ext uri="{FF2B5EF4-FFF2-40B4-BE49-F238E27FC236}">
                <a16:creationId xmlns:a16="http://schemas.microsoft.com/office/drawing/2014/main" id="{6AACE49E-B152-31B2-2744-044068C8536A}"/>
              </a:ext>
            </a:extLst>
          </p:cNvPr>
          <p:cNvSpPr>
            <a:spLocks noGrp="1"/>
          </p:cNvSpPr>
          <p:nvPr>
            <p:ph idx="1"/>
          </p:nvPr>
        </p:nvSpPr>
        <p:spPr>
          <a:xfrm>
            <a:off x="457200" y="2159745"/>
            <a:ext cx="8229600" cy="4525963"/>
          </a:xfrm>
        </p:spPr>
        <p:txBody>
          <a:bodyPr>
            <a:normAutofit/>
          </a:bodyPr>
          <a:lstStyle/>
          <a:p>
            <a:pPr marL="0" indent="0" algn="just">
              <a:buNone/>
            </a:pPr>
            <a:r>
              <a:rPr lang="en-US" sz="1500" dirty="0">
                <a:latin typeface="Times New Roman" panose="02020603050405020304" pitchFamily="18" charset="0"/>
                <a:cs typeface="Times New Roman" panose="02020603050405020304" pitchFamily="18" charset="0"/>
              </a:rPr>
              <a:t>The neural network model achieved an impressive accuracy of </a:t>
            </a:r>
            <a:r>
              <a:rPr lang="en-US" sz="1500" b="1" dirty="0">
                <a:latin typeface="Times New Roman" panose="02020603050405020304" pitchFamily="18" charset="0"/>
                <a:cs typeface="Times New Roman" panose="02020603050405020304" pitchFamily="18" charset="0"/>
              </a:rPr>
              <a:t>88.34%</a:t>
            </a:r>
            <a:r>
              <a:rPr lang="en-US" sz="1500" dirty="0">
                <a:latin typeface="Times New Roman" panose="02020603050405020304" pitchFamily="18" charset="0"/>
                <a:cs typeface="Times New Roman" panose="02020603050405020304" pitchFamily="18" charset="0"/>
              </a:rPr>
              <a:t>, demonstrating its strong capability in predicting diabetes risk based on the Framingham dataset. This high accuracy indicates that the model can effectively identify individuals at risk, outperforming traditional machine learning algorithms such as Logistic Regression and SVM. The results highlight the potential of deep learning in medical diagnostics, offering a reliable tool for early detection. With its strong predictive performance, the model holds promise for aiding healthcare professionals in making informed decisions and improving patient outcomes.</a:t>
            </a:r>
            <a:endParaRPr lang="en-IN" sz="1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0EEA2-F79F-4665-B964-141DA238CC58}" type="slidenum">
              <a:rPr lang="en-US" smtClean="0"/>
              <a:pPr/>
              <a:t>19</a:t>
            </a:fld>
            <a:endParaRPr lang="en-US" dirty="0"/>
          </a:p>
        </p:txBody>
      </p:sp>
    </p:spTree>
    <p:extLst>
      <p:ext uri="{BB962C8B-B14F-4D97-AF65-F5344CB8AC3E}">
        <p14:creationId xmlns:p14="http://schemas.microsoft.com/office/powerpoint/2010/main" val="3641284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6DEE1E47-B5EE-17E7-FAB0-9A97F9A0FA66}"/>
              </a:ext>
            </a:extLst>
          </p:cNvPr>
          <p:cNvSpPr>
            <a:spLocks noGrp="1"/>
          </p:cNvSpPr>
          <p:nvPr>
            <p:ph type="title"/>
          </p:nvPr>
        </p:nvSpPr>
        <p:spPr>
          <a:xfrm>
            <a:off x="457200" y="1219200"/>
            <a:ext cx="8229600" cy="1143000"/>
          </a:xfrm>
        </p:spPr>
        <p:txBody>
          <a:bodyPr>
            <a:noAutofit/>
          </a:bodyPr>
          <a:lstStyle/>
          <a:p>
            <a:pPr algn="l"/>
            <a:r>
              <a:rPr lang="en-US" sz="4000" b="1" i="0" dirty="0">
                <a:solidFill>
                  <a:srgbClr val="222222"/>
                </a:solidFill>
                <a:effectLst/>
                <a:latin typeface="Times New Roman" panose="02020603050405020304" pitchFamily="18" charset="0"/>
                <a:cs typeface="Times New Roman" panose="02020603050405020304" pitchFamily="18" charset="0"/>
              </a:rPr>
              <a:t>Future Scope</a:t>
            </a:r>
            <a:br>
              <a:rPr lang="en-US" b="0" i="0" dirty="0">
                <a:solidFill>
                  <a:srgbClr val="222222"/>
                </a:solidFill>
                <a:effectLst/>
              </a:rPr>
            </a:br>
            <a:endParaRPr lang="en-IN" dirty="0"/>
          </a:p>
        </p:txBody>
      </p:sp>
      <p:sp>
        <p:nvSpPr>
          <p:cNvPr id="8" name="Content Placeholder 7">
            <a:extLst>
              <a:ext uri="{FF2B5EF4-FFF2-40B4-BE49-F238E27FC236}">
                <a16:creationId xmlns:a16="http://schemas.microsoft.com/office/drawing/2014/main" id="{6AACE49E-B152-31B2-2744-044068C8536A}"/>
              </a:ext>
            </a:extLst>
          </p:cNvPr>
          <p:cNvSpPr>
            <a:spLocks noGrp="1"/>
          </p:cNvSpPr>
          <p:nvPr>
            <p:ph idx="1"/>
          </p:nvPr>
        </p:nvSpPr>
        <p:spPr>
          <a:xfrm>
            <a:off x="457200" y="2195512"/>
            <a:ext cx="8229600" cy="4525963"/>
          </a:xfrm>
        </p:spPr>
        <p:txBody>
          <a:bodyPr>
            <a:normAutofit/>
          </a:bodyPr>
          <a:lstStyle/>
          <a:p>
            <a:pPr marL="0" indent="0" algn="just">
              <a:buNone/>
            </a:pPr>
            <a:r>
              <a:rPr lang="en-US" sz="1500" dirty="0">
                <a:latin typeface="Times New Roman" panose="02020603050405020304" pitchFamily="18" charset="0"/>
                <a:cs typeface="Times New Roman" panose="02020603050405020304" pitchFamily="18" charset="0"/>
              </a:rPr>
              <a:t>The model can be improved by integrating more data sources like genetics and real-time health metrics for better accuracy. Deploying it in healthcare settings for continuous monitoring could enable early interventions. Advancements in explainable AI could enhance its interpretability, while expanding the model to detect other diseases would broaden its utility. Additionally, making it accessible through mobile apps could improve reach, especially in underserved areas.</a:t>
            </a:r>
            <a:endParaRPr lang="en-IN" sz="1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0EEA2-F79F-4665-B964-141DA238CC58}" type="slidenum">
              <a:rPr lang="en-US" smtClean="0"/>
              <a:pPr/>
              <a:t>20</a:t>
            </a:fld>
            <a:endParaRPr lang="en-US" dirty="0"/>
          </a:p>
        </p:txBody>
      </p:sp>
    </p:spTree>
    <p:extLst>
      <p:ext uri="{BB962C8B-B14F-4D97-AF65-F5344CB8AC3E}">
        <p14:creationId xmlns:p14="http://schemas.microsoft.com/office/powerpoint/2010/main" val="2249290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41564"/>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Slide Number Placeholder 9"/>
          <p:cNvSpPr>
            <a:spLocks noGrp="1"/>
          </p:cNvSpPr>
          <p:nvPr>
            <p:ph type="sldNum" sz="quarter" idx="12"/>
          </p:nvPr>
        </p:nvSpPr>
        <p:spPr/>
        <p:txBody>
          <a:bodyPr/>
          <a:lstStyle/>
          <a:p>
            <a:fld id="{3380EEA2-F79F-4665-B964-141DA238CC58}" type="slidenum">
              <a:rPr lang="en-US" smtClean="0"/>
              <a:pPr/>
              <a:t>21</a:t>
            </a:fld>
            <a:endParaRPr lang="en-US"/>
          </a:p>
        </p:txBody>
      </p:sp>
      <p:sp>
        <p:nvSpPr>
          <p:cNvPr id="9" name="object 2"/>
          <p:cNvSpPr txBox="1">
            <a:spLocks noGrp="1"/>
          </p:cNvSpPr>
          <p:nvPr>
            <p:ph type="title"/>
          </p:nvPr>
        </p:nvSpPr>
        <p:spPr>
          <a:xfrm>
            <a:off x="1537855" y="2928125"/>
            <a:ext cx="5943600" cy="625171"/>
          </a:xfrm>
        </p:spPr>
        <p:txBody>
          <a:bodyPr wrap="square" lIns="0" tIns="9525" rIns="0" bIns="0" rtlCol="0">
            <a:spAutoFit/>
          </a:bodyPr>
          <a:lstStyle/>
          <a:p>
            <a:pPr marL="9525">
              <a:spcBef>
                <a:spcPts val="75"/>
              </a:spcBef>
              <a:tabLst>
                <a:tab pos="2046446" algn="l"/>
              </a:tabLst>
              <a:defRPr/>
            </a:pPr>
            <a:r>
              <a:rPr lang="en-IN" sz="4000" b="1" dirty="0">
                <a:latin typeface="Times New Roman" panose="02020603050405020304" pitchFamily="18" charset="0"/>
                <a:cs typeface="Times New Roman" panose="02020603050405020304" pitchFamily="18" charset="0"/>
              </a:rPr>
              <a:t>Thank You.</a:t>
            </a:r>
            <a:endParaRPr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7887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p:cNvGrpSpPr/>
          <p:nvPr/>
        </p:nvGrpSpPr>
        <p:grpSpPr>
          <a:xfrm>
            <a:off x="0" y="0"/>
            <a:ext cx="9144000" cy="914400"/>
            <a:chOff x="0" y="0"/>
            <a:chExt cx="9144000" cy="1163782"/>
          </a:xfrm>
        </p:grpSpPr>
        <p:sp>
          <p:nvSpPr>
            <p:cNvPr id="5" name="Rounded Rectangle 4"/>
            <p:cNvSpPr/>
            <p:nvPr/>
          </p:nvSpPr>
          <p:spPr>
            <a:xfrm>
              <a:off x="0" y="0"/>
              <a:ext cx="9144000" cy="1066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    </a:t>
              </a:r>
              <a:r>
                <a:rPr lang="en-US" sz="2800" dirty="0">
                  <a:latin typeface="Times New Roman" pitchFamily="18" charset="0"/>
                  <a:cs typeface="Times New Roman" pitchFamily="18" charset="0"/>
                </a:rPr>
                <a:t>Department of CSE and Allied Branches</a:t>
              </a:r>
              <a:endParaRPr lang="en-US" sz="2800" dirty="0"/>
            </a:p>
          </p:txBody>
        </p:sp>
        <p:pic>
          <p:nvPicPr>
            <p:cNvPr id="6" name="Picture 5"/>
            <p:cNvPicPr/>
            <p:nvPr/>
          </p:nvPicPr>
          <p:blipFill>
            <a:blip r:embed="rId2"/>
            <a:srcRect l="36378" t="27920" r="58160" b="60969"/>
            <a:stretch>
              <a:fillRect/>
            </a:stretch>
          </p:blipFill>
          <p:spPr bwMode="auto">
            <a:xfrm>
              <a:off x="228600" y="0"/>
              <a:ext cx="914400" cy="1163782"/>
            </a:xfrm>
            <a:prstGeom prst="rect">
              <a:avLst/>
            </a:prstGeom>
            <a:noFill/>
            <a:ln w="9525">
              <a:noFill/>
              <a:miter lim="800000"/>
              <a:headEnd/>
              <a:tailEnd/>
            </a:ln>
          </p:spPr>
        </p:pic>
      </p:grpSp>
      <p:sp>
        <p:nvSpPr>
          <p:cNvPr id="11" name="Rectangle 3"/>
          <p:cNvSpPr txBox="1">
            <a:spLocks noChangeArrowheads="1"/>
          </p:cNvSpPr>
          <p:nvPr/>
        </p:nvSpPr>
        <p:spPr>
          <a:xfrm>
            <a:off x="838200" y="533400"/>
            <a:ext cx="7772400" cy="571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Box 8"/>
          <p:cNvSpPr txBox="1"/>
          <p:nvPr/>
        </p:nvSpPr>
        <p:spPr>
          <a:xfrm>
            <a:off x="609600" y="2057400"/>
            <a:ext cx="4038600" cy="830997"/>
          </a:xfrm>
          <a:prstGeom prst="rect">
            <a:avLst/>
          </a:prstGeom>
          <a:noFill/>
        </p:spPr>
        <p:txBody>
          <a:bodyPr wrap="square" rtlCol="0">
            <a:spAutoFit/>
          </a:bodyPr>
          <a:lstStyle/>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itle 6">
            <a:extLst>
              <a:ext uri="{FF2B5EF4-FFF2-40B4-BE49-F238E27FC236}">
                <a16:creationId xmlns:a16="http://schemas.microsoft.com/office/drawing/2014/main" id="{6DEE1E47-B5EE-17E7-FAB0-9A97F9A0FA66}"/>
              </a:ext>
            </a:extLst>
          </p:cNvPr>
          <p:cNvSpPr>
            <a:spLocks noGrp="1"/>
          </p:cNvSpPr>
          <p:nvPr>
            <p:ph type="title"/>
          </p:nvPr>
        </p:nvSpPr>
        <p:spPr>
          <a:xfrm>
            <a:off x="457200" y="1219200"/>
            <a:ext cx="8229600" cy="1143000"/>
          </a:xfrm>
        </p:spPr>
        <p:txBody>
          <a:bodyPr>
            <a:noAutofit/>
          </a:bodyPr>
          <a:lstStyle/>
          <a:p>
            <a:pPr algn="l"/>
            <a:r>
              <a:rPr lang="en-US" sz="4000" b="1" dirty="0">
                <a:solidFill>
                  <a:srgbClr val="222222"/>
                </a:solidFill>
                <a:latin typeface="Times New Roman" panose="02020603050405020304" pitchFamily="18" charset="0"/>
                <a:cs typeface="Times New Roman" panose="02020603050405020304" pitchFamily="18" charset="0"/>
              </a:rPr>
              <a:t>References</a:t>
            </a:r>
            <a:br>
              <a:rPr lang="en-US" b="0" i="0" dirty="0">
                <a:solidFill>
                  <a:srgbClr val="222222"/>
                </a:solidFill>
                <a:effectLst/>
              </a:rPr>
            </a:br>
            <a:endParaRPr lang="en-IN" dirty="0"/>
          </a:p>
        </p:txBody>
      </p:sp>
      <p:sp>
        <p:nvSpPr>
          <p:cNvPr id="8" name="Content Placeholder 7">
            <a:extLst>
              <a:ext uri="{FF2B5EF4-FFF2-40B4-BE49-F238E27FC236}">
                <a16:creationId xmlns:a16="http://schemas.microsoft.com/office/drawing/2014/main" id="{6AACE49E-B152-31B2-2744-044068C8536A}"/>
              </a:ext>
            </a:extLst>
          </p:cNvPr>
          <p:cNvSpPr>
            <a:spLocks noGrp="1"/>
          </p:cNvSpPr>
          <p:nvPr>
            <p:ph idx="1"/>
          </p:nvPr>
        </p:nvSpPr>
        <p:spPr>
          <a:xfrm>
            <a:off x="457200" y="1676400"/>
            <a:ext cx="8229600" cy="4679950"/>
          </a:xfrm>
        </p:spPr>
        <p:txBody>
          <a:bodyPr>
            <a:noAutofit/>
          </a:bodyPr>
          <a:lstStyle/>
          <a:p>
            <a:pPr>
              <a:buAutoNum type="arabicPeriod"/>
            </a:pPr>
            <a:r>
              <a:rPr lang="en-IN" sz="1400" dirty="0">
                <a:latin typeface="Times New Roman" panose="02020603050405020304" pitchFamily="18" charset="0"/>
                <a:cs typeface="Times New Roman" panose="02020603050405020304" pitchFamily="18" charset="0"/>
              </a:rPr>
              <a:t>Hasan, Md. K., Alam, Md. A., Das, D., Hossain, E., &amp; Hasan, M. (2020). Diabetes Prediction Using </a:t>
            </a:r>
            <a:r>
              <a:rPr lang="en-IN" sz="1400" dirty="0" err="1">
                <a:latin typeface="Times New Roman" panose="02020603050405020304" pitchFamily="18" charset="0"/>
                <a:cs typeface="Times New Roman" panose="02020603050405020304" pitchFamily="18" charset="0"/>
              </a:rPr>
              <a:t>Ensembling</a:t>
            </a:r>
            <a:r>
              <a:rPr lang="en-IN" sz="1400" dirty="0">
                <a:latin typeface="Times New Roman" panose="02020603050405020304" pitchFamily="18" charset="0"/>
                <a:cs typeface="Times New Roman" panose="02020603050405020304" pitchFamily="18" charset="0"/>
              </a:rPr>
              <a:t> of Different Machine Learning Classifiers. IEEE Access, 8, 76516–76531. https://doi.org/10.1109/access.2020.2989857 </a:t>
            </a:r>
          </a:p>
          <a:p>
            <a:pPr>
              <a:buAutoNum type="arabicPeriod"/>
            </a:pPr>
            <a:r>
              <a:rPr lang="en-IN" sz="1400" dirty="0">
                <a:latin typeface="Times New Roman" panose="02020603050405020304" pitchFamily="18" charset="0"/>
                <a:cs typeface="Times New Roman" panose="02020603050405020304" pitchFamily="18" charset="0"/>
              </a:rPr>
              <a:t>G </a:t>
            </a:r>
            <a:r>
              <a:rPr lang="en-IN" sz="1400" dirty="0" err="1">
                <a:latin typeface="Times New Roman" panose="02020603050405020304" pitchFamily="18" charset="0"/>
                <a:cs typeface="Times New Roman" panose="02020603050405020304" pitchFamily="18" charset="0"/>
              </a:rPr>
              <a:t>Parimala</a:t>
            </a:r>
            <a:r>
              <a:rPr lang="en-IN" sz="1400" dirty="0">
                <a:latin typeface="Times New Roman" panose="02020603050405020304" pitchFamily="18" charset="0"/>
                <a:cs typeface="Times New Roman" panose="02020603050405020304" pitchFamily="18" charset="0"/>
              </a:rPr>
              <a:t>, R. </a:t>
            </a:r>
            <a:r>
              <a:rPr lang="en-IN" sz="1400" dirty="0" err="1">
                <a:latin typeface="Times New Roman" panose="02020603050405020304" pitchFamily="18" charset="0"/>
                <a:cs typeface="Times New Roman" panose="02020603050405020304" pitchFamily="18" charset="0"/>
              </a:rPr>
              <a:t>Kayalvizhi</a:t>
            </a:r>
            <a:r>
              <a:rPr lang="en-IN" sz="1400" dirty="0">
                <a:latin typeface="Times New Roman" panose="02020603050405020304" pitchFamily="18" charset="0"/>
                <a:cs typeface="Times New Roman" panose="02020603050405020304" pitchFamily="18" charset="0"/>
              </a:rPr>
              <a:t>, &amp; S. </a:t>
            </a:r>
            <a:r>
              <a:rPr lang="en-IN" sz="1400" dirty="0" err="1">
                <a:latin typeface="Times New Roman" panose="02020603050405020304" pitchFamily="18" charset="0"/>
                <a:cs typeface="Times New Roman" panose="02020603050405020304" pitchFamily="18" charset="0"/>
              </a:rPr>
              <a:t>Nithiya</a:t>
            </a:r>
            <a:r>
              <a:rPr lang="en-IN" sz="1400" dirty="0">
                <a:latin typeface="Times New Roman" panose="02020603050405020304" pitchFamily="18" charset="0"/>
                <a:cs typeface="Times New Roman" panose="02020603050405020304" pitchFamily="18" charset="0"/>
              </a:rPr>
              <a:t>. (2023). Diabetes Prediction using Machine Learning. https://doi.org/10.1109/iccci56745.2023.10128216 </a:t>
            </a:r>
          </a:p>
          <a:p>
            <a:pPr>
              <a:buAutoNum type="arabicPeriod"/>
            </a:pPr>
            <a:r>
              <a:rPr lang="en-IN" sz="1400" dirty="0">
                <a:latin typeface="Times New Roman" panose="02020603050405020304" pitchFamily="18" charset="0"/>
                <a:cs typeface="Times New Roman" panose="02020603050405020304" pitchFamily="18" charset="0"/>
              </a:rPr>
              <a:t>S, J., N, B., P, S., K, S. K., &amp; Mani </a:t>
            </a:r>
            <a:r>
              <a:rPr lang="en-IN" sz="1400" dirty="0" err="1">
                <a:latin typeface="Times New Roman" panose="02020603050405020304" pitchFamily="18" charset="0"/>
                <a:cs typeface="Times New Roman" panose="02020603050405020304" pitchFamily="18" charset="0"/>
              </a:rPr>
              <a:t>Nageshwar</a:t>
            </a:r>
            <a:r>
              <a:rPr lang="en-IN" sz="1400" dirty="0">
                <a:latin typeface="Times New Roman" panose="02020603050405020304" pitchFamily="18" charset="0"/>
                <a:cs typeface="Times New Roman" panose="02020603050405020304" pitchFamily="18" charset="0"/>
              </a:rPr>
              <a:t>, V. (2022, March 1). Diabetes Prediction Using Machine Learning Algorithms. IEEE Xplore. https://doi.org/10.1109/ICACCS54159.2022.9785073 </a:t>
            </a:r>
          </a:p>
          <a:p>
            <a:pPr>
              <a:buAutoNum type="arabicPeriod"/>
            </a:pPr>
            <a:r>
              <a:rPr lang="en-IN" sz="1400" dirty="0">
                <a:latin typeface="Times New Roman" panose="02020603050405020304" pitchFamily="18" charset="0"/>
                <a:cs typeface="Times New Roman" panose="02020603050405020304" pitchFamily="18" charset="0"/>
              </a:rPr>
              <a:t>Dubey, Y., Wankhede, P., Borkar, T., Borkar, A., &amp; Mitra, K. (2021). Diabetes Prediction and Classification using Machine Learning Algorithms. 2021 IEEE International Conference on Biomedical Engineering, Computer and Information Technology for Health (BECITHCON). </a:t>
            </a:r>
            <a:r>
              <a:rPr lang="en-IN" sz="1400" dirty="0">
                <a:latin typeface="Times New Roman" panose="02020603050405020304" pitchFamily="18" charset="0"/>
                <a:cs typeface="Times New Roman" panose="02020603050405020304" pitchFamily="18" charset="0"/>
                <a:hlinkClick r:id="rId3"/>
              </a:rPr>
              <a:t>https://doi.org/10.1109/becithcon54710.2021.9893653</a:t>
            </a:r>
            <a:endParaRPr lang="en-IN" sz="1400" dirty="0">
              <a:latin typeface="Times New Roman" panose="02020603050405020304" pitchFamily="18" charset="0"/>
              <a:cs typeface="Times New Roman" panose="02020603050405020304" pitchFamily="18" charset="0"/>
            </a:endParaRPr>
          </a:p>
          <a:p>
            <a:pPr>
              <a:buAutoNum type="arabicPeriod"/>
            </a:pPr>
            <a:r>
              <a:rPr lang="en-IN" sz="1400" dirty="0">
                <a:latin typeface="Times New Roman" panose="02020603050405020304" pitchFamily="18" charset="0"/>
                <a:cs typeface="Times New Roman" panose="02020603050405020304" pitchFamily="18" charset="0"/>
              </a:rPr>
              <a:t>Sarwar, M. A., Kamal, N., Hamid, W., &amp; Shah, M. A. (2018, September 1). Prediction of Diabetes Using Machine Learning Algorithms in Healthcare. IEEE Xplore. https://doi.org/10.23919/IConAC.2018.8748992 </a:t>
            </a:r>
          </a:p>
          <a:p>
            <a:pPr>
              <a:buAutoNum type="arabicPeriod"/>
            </a:pPr>
            <a:r>
              <a:rPr lang="en-IN" sz="1400" dirty="0" err="1">
                <a:latin typeface="Times New Roman" panose="02020603050405020304" pitchFamily="18" charset="0"/>
                <a:cs typeface="Times New Roman" panose="02020603050405020304" pitchFamily="18" charset="0"/>
              </a:rPr>
              <a:t>Digey</a:t>
            </a:r>
            <a:r>
              <a:rPr lang="en-IN" sz="1400" dirty="0">
                <a:latin typeface="Times New Roman" panose="02020603050405020304" pitchFamily="18" charset="0"/>
                <a:cs typeface="Times New Roman" panose="02020603050405020304" pitchFamily="18" charset="0"/>
              </a:rPr>
              <a:t>, B. (2021). DIABETES DETECTION USING CONVOLUTIONAL NEURAL NETWORKS (CNN) BASED MODEL [Research Article]. Turkish Journal of Computer and Mathematics Education, 12(14), 6007–6016. </a:t>
            </a:r>
          </a:p>
          <a:p>
            <a:pPr>
              <a:buAutoNum type="arabicPeriod"/>
            </a:pPr>
            <a:r>
              <a:rPr lang="en-IN" sz="1400" dirty="0">
                <a:latin typeface="Times New Roman" panose="02020603050405020304" pitchFamily="18" charset="0"/>
                <a:cs typeface="Times New Roman" panose="02020603050405020304" pitchFamily="18" charset="0"/>
              </a:rPr>
              <a:t>G., S., R., V., &amp; K.P., S. (2018). Diabetes detection using deep learning algorithms. ICT Express, 4(4), 243–246. https://doi.org/10.1016/j.icte.2018.10.005 </a:t>
            </a:r>
          </a:p>
          <a:p>
            <a:pPr>
              <a:buAutoNum type="arabicPeriod"/>
            </a:pPr>
            <a:r>
              <a:rPr lang="en-IN" sz="1400" dirty="0">
                <a:latin typeface="Times New Roman" panose="02020603050405020304" pitchFamily="18" charset="0"/>
                <a:cs typeface="Times New Roman" panose="02020603050405020304" pitchFamily="18" charset="0"/>
              </a:rPr>
              <a:t>Al-</a:t>
            </a:r>
            <a:r>
              <a:rPr lang="en-IN" sz="1400" dirty="0" err="1">
                <a:latin typeface="Times New Roman" panose="02020603050405020304" pitchFamily="18" charset="0"/>
                <a:cs typeface="Times New Roman" panose="02020603050405020304" pitchFamily="18" charset="0"/>
              </a:rPr>
              <a:t>Khafajiy</a:t>
            </a:r>
            <a:r>
              <a:rPr lang="en-IN" sz="1400" dirty="0">
                <a:latin typeface="Times New Roman" panose="02020603050405020304" pitchFamily="18" charset="0"/>
                <a:cs typeface="Times New Roman" panose="02020603050405020304" pitchFamily="18" charset="0"/>
              </a:rPr>
              <a:t>, M., Baker, T., Chalmers, C. et al. Remote health monitoring of elderly through wearable sensors. </a:t>
            </a:r>
            <a:r>
              <a:rPr lang="en-IN" sz="1400" dirty="0" err="1">
                <a:latin typeface="Times New Roman" panose="02020603050405020304" pitchFamily="18" charset="0"/>
                <a:cs typeface="Times New Roman" panose="02020603050405020304" pitchFamily="18" charset="0"/>
              </a:rPr>
              <a:t>Multimed</a:t>
            </a:r>
            <a:r>
              <a:rPr lang="en-IN" sz="1400" dirty="0">
                <a:latin typeface="Times New Roman" panose="02020603050405020304" pitchFamily="18" charset="0"/>
                <a:cs typeface="Times New Roman" panose="02020603050405020304" pitchFamily="18" charset="0"/>
              </a:rPr>
              <a:t> Tools </a:t>
            </a:r>
            <a:r>
              <a:rPr lang="en-IN" sz="1400" dirty="0" err="1">
                <a:latin typeface="Times New Roman" panose="02020603050405020304" pitchFamily="18" charset="0"/>
                <a:cs typeface="Times New Roman" panose="02020603050405020304" pitchFamily="18" charset="0"/>
              </a:rPr>
              <a:t>Appl</a:t>
            </a:r>
            <a:r>
              <a:rPr lang="en-IN" sz="1400" dirty="0">
                <a:latin typeface="Times New Roman" panose="02020603050405020304" pitchFamily="18" charset="0"/>
                <a:cs typeface="Times New Roman" panose="02020603050405020304" pitchFamily="18" charset="0"/>
              </a:rPr>
              <a:t> 78, 24681–24706 (2019). https://doi.org/10.1007/s11042-018-7134-7 </a:t>
            </a:r>
          </a:p>
        </p:txBody>
      </p:sp>
      <p:sp>
        <p:nvSpPr>
          <p:cNvPr id="4" name="Slide Number Placeholder 3"/>
          <p:cNvSpPr>
            <a:spLocks noGrp="1"/>
          </p:cNvSpPr>
          <p:nvPr>
            <p:ph type="sldNum" sz="quarter" idx="12"/>
          </p:nvPr>
        </p:nvSpPr>
        <p:spPr/>
        <p:txBody>
          <a:bodyPr/>
          <a:lstStyle/>
          <a:p>
            <a:fld id="{3380EEA2-F79F-4665-B964-141DA238CC58}" type="slidenum">
              <a:rPr lang="en-US" smtClean="0"/>
              <a:pPr/>
              <a:t>22</a:t>
            </a:fld>
            <a:endParaRPr lang="en-US" dirty="0"/>
          </a:p>
        </p:txBody>
      </p:sp>
    </p:spTree>
    <p:extLst>
      <p:ext uri="{BB962C8B-B14F-4D97-AF65-F5344CB8AC3E}">
        <p14:creationId xmlns:p14="http://schemas.microsoft.com/office/powerpoint/2010/main" val="3087905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8192</TotalTime>
  <Words>2468</Words>
  <Application>Microsoft Office PowerPoint</Application>
  <PresentationFormat>On-screen Show (4:3)</PresentationFormat>
  <Paragraphs>190</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Diabetes Detection using Deep Learning</vt:lpstr>
      <vt:lpstr>Outline</vt:lpstr>
      <vt:lpstr>Introduction</vt:lpstr>
      <vt:lpstr>Diabetes is a rapidly growing health issue worldwide, leading to serious complications if not detected early. Traditional diagnostic methods, while effective, are often slow and resource-heavy, which can delay timely intervention. This project aims to improve diabetes detection by applying deep learning techniques, which can provide faster and more accurate predictions. Using the Framingham dataset, the model achieves high accuracy and integrates Explainable AI (XAI) with SHAP to ensure transparency in the decision-making process. This approach helps healthcare professionals understand the model’s predictions, making it more reliable and accessible for real-world applications. </vt:lpstr>
      <vt:lpstr>Objectives</vt:lpstr>
      <vt:lpstr>Literature Survey</vt:lpstr>
      <vt:lpstr>Literature Survey</vt:lpstr>
      <vt:lpstr>Literature Survey</vt:lpstr>
      <vt:lpstr>Literature Survey</vt:lpstr>
      <vt:lpstr>Dataset Details</vt:lpstr>
      <vt:lpstr>Data Preprocessing</vt:lpstr>
      <vt:lpstr>Methodology</vt:lpstr>
      <vt:lpstr>Methodology</vt:lpstr>
      <vt:lpstr>Methodology</vt:lpstr>
      <vt:lpstr>Methodology</vt:lpstr>
      <vt:lpstr>Model Comparison</vt:lpstr>
      <vt:lpstr>Proposed Work</vt:lpstr>
      <vt:lpstr>XAI Integration</vt:lpstr>
      <vt:lpstr>Conclusion </vt:lpstr>
      <vt:lpstr>Future Scope </vt:lpstr>
      <vt:lpstr>Thank You.</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 Application of Soft Computing  Course Code – KCS 054 Program Name – B.Tech</dc:title>
  <dc:creator>Windows User</dc:creator>
  <cp:lastModifiedBy>Parantap Pandey</cp:lastModifiedBy>
  <cp:revision>341</cp:revision>
  <cp:lastPrinted>2024-09-17T04:08:21Z</cp:lastPrinted>
  <dcterms:created xsi:type="dcterms:W3CDTF">2020-07-11T15:09:29Z</dcterms:created>
  <dcterms:modified xsi:type="dcterms:W3CDTF">2024-12-05T07:02:12Z</dcterms:modified>
</cp:coreProperties>
</file>